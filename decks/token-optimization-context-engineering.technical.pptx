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1: Token Optimization and Context Engineering</a:t>
            </a:r>
          </a:p>
          <a:p>
            <a:pPr>
              <a:defRPr sz="1200">
                <a:latin typeface="Aptos"/>
              </a:defRPr>
            </a:pPr>
            <a:r>
              <a:t>Open by saying this is not a "use less Copilot" session. It is a "get better answers with less waste"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2: Why this matters now</a:t>
            </a:r>
          </a:p>
          <a:p>
            <a:pPr>
              <a:defRPr sz="1200">
                <a:latin typeface="Aptos"/>
              </a:defRPr>
            </a:pPr>
            <a:r>
              <a:t>Anchor on the current shift: customers need practical habits before usage surprises become trust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3: Context engineering</a:t>
            </a:r>
          </a:p>
          <a:p>
            <a:pPr>
              <a:defRPr sz="1200">
                <a:latin typeface="Aptos"/>
              </a:defRPr>
            </a:pPr>
            <a:r>
              <a:t>Define context engineering as an evolution of prompt engineering. The goal is not clever phrasing; the goal is the right information in the right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4: What counts as context</a:t>
            </a:r>
          </a:p>
          <a:p>
            <a:pPr>
              <a:defRPr sz="1200">
                <a:latin typeface="Aptos"/>
              </a:defRPr>
            </a:pPr>
            <a:r>
              <a:t>Walk left to right through the context inputs. Point out that the user prompt is often the smallest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5: Important billing nuance</a:t>
            </a:r>
          </a:p>
          <a:p>
            <a:pPr>
              <a:defRPr sz="1200">
                <a:latin typeface="Aptos"/>
              </a:defRPr>
            </a:pPr>
            <a:r>
              <a:t>Use careful language. Product accounting can vary and caching may apply. The workshop teaches habits that remain useful even as billing details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6: Where context gets wasted</a:t>
            </a:r>
          </a:p>
          <a:p>
            <a:pPr>
              <a:defRPr sz="1200">
                <a:latin typeface="Aptos"/>
              </a:defRPr>
            </a:pPr>
            <a:r>
              <a:t>Emphasize that context waste hurts quality before it hurts the bill. Too much irrelevant context makes the model less focused.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7: The five levers</a:t>
            </a:r>
          </a:p>
          <a:p>
            <a:pPr>
              <a:defRPr sz="1200">
                <a:latin typeface="Aptos"/>
              </a:defRPr>
            </a:pPr>
            <a:r>
              <a:t>This is the map for the workshop. Do not create a second framework; map context engineering into these five levers.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8: Lever 1 - Context hygiene</a:t>
            </a:r>
          </a:p>
          <a:p>
            <a:pPr>
              <a:defRPr sz="1200">
                <a:latin typeface="Aptos"/>
              </a:defRPr>
            </a:pPr>
            <a:r>
              <a:t>Use the branch analogy: one focused session per task. Clearing context is good between tasks, but clearing and re-reading the same files can be wasteful.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9: Lever 2 - Prompt discipline</a:t>
            </a:r>
          </a:p>
          <a:p>
            <a:pPr>
              <a:defRPr sz="1200">
                <a:latin typeface="Aptos"/>
              </a:defRPr>
            </a:pPr>
            <a:r>
              <a:t>Show one overloaded request and one structured request. Keep the demo short.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10: Lever 3 - Model and surface selection</a:t>
            </a:r>
          </a:p>
          <a:p>
            <a:pPr>
              <a:defRPr sz="1200">
                <a:latin typeface="Aptos"/>
              </a:defRPr>
            </a:pPr>
            <a:r>
              <a:t>Make model and surface selection practical. The right answer may be a different surface, not just a different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11: Lever 4 - Scope and tool control</a:t>
            </a:r>
          </a:p>
          <a:p>
            <a:pPr>
              <a:defRPr sz="1200">
                <a:latin typeface="Aptos"/>
              </a:defRPr>
            </a:pPr>
            <a:r>
              <a:t>Explain that every enabled tool is a capability and a possible source of noise. Tool descriptions and access boundaries are product 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12: Lever 5 - Measurement</a:t>
            </a:r>
          </a:p>
          <a:p>
            <a:pPr>
              <a:defRPr sz="1200">
                <a:latin typeface="Aptos"/>
              </a:defRPr>
            </a:pPr>
            <a:r>
              <a:t>For surfaces without token visibility, measure proxies: retries, PR churn, review false positives, usage dashboards, and time-to-merge.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13: Surface matrix</a:t>
            </a:r>
          </a:p>
          <a:p>
            <a:pPr>
              <a:defRPr sz="1200">
                <a:latin typeface="Aptos"/>
              </a:defRPr>
            </a:pPr>
            <a:r>
              <a:t>Warn that the matrix is not parity. Some cells are intentionally "not available."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14: VS Code pattern</a:t>
            </a:r>
          </a:p>
          <a:p>
            <a:pPr>
              <a:defRPr sz="1200">
                <a:latin typeface="Aptos"/>
              </a:defRPr>
            </a:pPr>
            <a:r>
              <a:t>VS Code is the daily practitioner path: Ask to understand, Plan to structure, Agent to implement, Review to validate.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15: GitHub.com web pattern</a:t>
            </a:r>
          </a:p>
          <a:p>
            <a:pPr>
              <a:defRPr sz="1200">
                <a:latin typeface="Aptos"/>
              </a:defRPr>
            </a:pPr>
            <a:r>
              <a:t>GitHub.com is strongest when the page context matters: repository, issue, pull request, or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16: Copilot CLI pattern</a:t>
            </a:r>
          </a:p>
          <a:p>
            <a:pPr>
              <a:defRPr sz="1200">
                <a:latin typeface="Aptos"/>
              </a:defRPr>
            </a:pPr>
            <a:r>
              <a:t>CLI remains the best live demo for token concepts because context and usage are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17: Coding agent pattern</a:t>
            </a:r>
          </a:p>
          <a:p>
            <a:pPr>
              <a:defRPr sz="1200">
                <a:latin typeface="Aptos"/>
              </a:defRPr>
            </a:pPr>
            <a:r>
              <a:t>Coding agent tasks should look like good implementation tickets. Vague tasks create broad exploration and broad diffs.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18: Code review pattern</a:t>
            </a:r>
          </a:p>
          <a:p>
            <a:pPr>
              <a:defRPr sz="1200">
                <a:latin typeface="Aptos"/>
              </a:defRPr>
            </a:pPr>
            <a:r>
              <a:t>Code review is purpose-built. Do not promise model switching. Teach PR hygiene and instruction hygiene.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19: Context inventory exercise</a:t>
            </a:r>
          </a:p>
          <a:p>
            <a:pPr>
              <a:defRPr sz="1200">
                <a:latin typeface="Aptos"/>
              </a:defRPr>
            </a:pPr>
            <a:r>
              <a:t>Students should discover that some of their "helpful" context is stale, sensitive, or redundant.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20: Instruction diet exercise</a:t>
            </a:r>
          </a:p>
          <a:p>
            <a:pPr>
              <a:defRPr sz="1200">
                <a:latin typeface="Aptos"/>
              </a:defRPr>
            </a:pPr>
            <a:r>
              <a:t>This is the most actionable demo. Trim one bloated instruction file and show where the pieces should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21: Governance</a:t>
            </a:r>
          </a:p>
          <a:p>
            <a:pPr>
              <a:defRPr sz="1200">
                <a:latin typeface="Aptos"/>
              </a:defRPr>
            </a:pPr>
            <a:r>
              <a:t>Separate developer habits from admin controls. Admin controls compound because they apply every turn for every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22: Delivery tracks</a:t>
            </a:r>
          </a:p>
          <a:p>
            <a:pPr>
              <a:defRPr sz="1200">
                <a:latin typeface="Aptos"/>
              </a:defRPr>
            </a:pPr>
            <a:r>
              <a:t>Match the track to the audience. Do not run the 4-hour customer review without preflight.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23: What improvement looks like</a:t>
            </a:r>
          </a:p>
          <a:p>
            <a:pPr>
              <a:defRPr sz="1200">
                <a:latin typeface="Aptos"/>
              </a:defRPr>
            </a:pPr>
            <a:r>
              <a:t>Avoid unsupported savings promises. Talk about directional improvements and measurement.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Aptos"/>
              </a:defRPr>
            </a:pPr>
            <a:r>
              <a:t>Slide 24: Takeaways</a:t>
            </a:r>
          </a:p>
          <a:p>
            <a:pPr>
              <a:defRPr sz="1200">
                <a:latin typeface="Aptos"/>
              </a:defRPr>
            </a:pPr>
            <a:r>
              <a:t>Close with a small commitment: pick three habits, measure for a week, then expand.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109728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201168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200" b="1">
                <a:solidFill>
                  <a:srgbClr val="FFAB70"/>
                </a:solidFill>
                <a:latin typeface="Cascadia Code"/>
              </a:defRPr>
            </a:pPr>
            <a:r>
              <a:t>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6400800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3800" b="1">
                <a:solidFill>
                  <a:srgbClr val="E6EDF3"/>
                </a:solidFill>
                <a:latin typeface="Aptos Display"/>
              </a:defRPr>
            </a:pPr>
            <a:r>
              <a:t>Token Optimization and Context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127248"/>
            <a:ext cx="452628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800" b="0">
                <a:solidFill>
                  <a:srgbClr val="B7C3D0"/>
                </a:solidFill>
                <a:latin typeface="Cascadia Code"/>
              </a:defRPr>
            </a:pPr>
            <a:r>
              <a:t>Getting more value from every Copilot interaction</a:t>
            </a:r>
            <a:br/>
            <a:r>
              <a:t>Across Copilot CLI, VS Code, GitHub.com, coding agent, and code review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170432"/>
            <a:ext cx="4023360" cy="53035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16368" y="1325880"/>
            <a:ext cx="36210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E6EDF3"/>
                </a:solidFill>
                <a:latin typeface="Cascadia Code"/>
              </a:defRPr>
            </a:pPr>
            <a:r>
              <a:t>1. Context hygiene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993392"/>
            <a:ext cx="4023360" cy="53035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16368" y="2148840"/>
            <a:ext cx="36210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E6EDF3"/>
                </a:solidFill>
                <a:latin typeface="Cascadia Code"/>
              </a:defRPr>
            </a:pPr>
            <a:r>
              <a:t>2. Prompt discipline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2816352"/>
            <a:ext cx="4023360" cy="53035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6368" y="2971800"/>
            <a:ext cx="36210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E6EDF3"/>
                </a:solidFill>
                <a:latin typeface="Cascadia Code"/>
              </a:defRPr>
            </a:pPr>
            <a:r>
              <a:t>3. Model/surface routing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3639312"/>
            <a:ext cx="4023360" cy="53035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6368" y="3794760"/>
            <a:ext cx="36210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E6EDF3"/>
                </a:solidFill>
                <a:latin typeface="Cascadia Code"/>
              </a:defRPr>
            </a:pPr>
            <a:r>
              <a:t>4. Tool scope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4462272"/>
            <a:ext cx="4023360" cy="53035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16368" y="4617720"/>
            <a:ext cx="36210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E6EDF3"/>
                </a:solidFill>
                <a:latin typeface="Cascadia Code"/>
              </a:defRPr>
            </a:pPr>
            <a:r>
              <a:t>5. Measurement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6016752"/>
            <a:ext cx="44805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000" b="0">
                <a:solidFill>
                  <a:srgbClr val="7D8590"/>
                </a:solidFill>
                <a:latin typeface="Cascadia Code"/>
              </a:defRPr>
            </a:pPr>
            <a:r>
              <a:t>Generated from Markdown source with embedded speaker notes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1 / 24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35240" y="6473952"/>
            <a:ext cx="163829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Why this matters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6766560" cy="38862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72768"/>
            <a:ext cx="6364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984248"/>
            <a:ext cx="6437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B7C3D0"/>
                </a:solidFill>
                <a:latin typeface="Cascadia Code"/>
              </a:defRPr>
            </a:pPr>
            <a:r>
              <a:t>Usage models are shifting from simple request counting toward more granular accounting.</a:t>
            </a:r>
          </a:p>
          <a:p>
            <a:pPr>
              <a:spcAft>
                <a:spcPts val="700"/>
              </a:spcAft>
              <a:defRPr sz="1900">
                <a:solidFill>
                  <a:srgbClr val="B7C3D0"/>
                </a:solidFill>
                <a:latin typeface="Cascadia Code"/>
              </a:defRPr>
            </a:pPr>
            <a:r>
              <a:t>Long conversations, broad tool output, and unnecessary context can affect cost, latency, and quality.</a:t>
            </a:r>
          </a:p>
          <a:p>
            <a:pPr>
              <a:spcAft>
                <a:spcPts val="700"/>
              </a:spcAft>
              <a:defRPr sz="1900">
                <a:solidFill>
                  <a:srgbClr val="B7C3D0"/>
                </a:solidFill>
                <a:latin typeface="Cascadia Code"/>
              </a:defRPr>
            </a:pPr>
            <a:r>
              <a:t>The durable habit is not "use less Copilot"; it is "send better context."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1417320"/>
            <a:ext cx="3337560" cy="3886200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0728" y="1572768"/>
            <a:ext cx="2935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Remember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4152" y="1984248"/>
            <a:ext cx="3008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Better context improves quality, speed, and cost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2 / 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5240" y="6473952"/>
            <a:ext cx="327659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Context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6766560" cy="38862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72768"/>
            <a:ext cx="6364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984248"/>
            <a:ext cx="6437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B7C3D0"/>
                </a:solidFill>
                <a:latin typeface="Cascadia Code"/>
              </a:defRPr>
            </a:pPr>
            <a:r>
              <a:t>Context engineering means bringing the right information, in the right format, to the model.</a:t>
            </a:r>
          </a:p>
          <a:p>
            <a:pPr>
              <a:spcAft>
                <a:spcPts val="700"/>
              </a:spcAft>
              <a:defRPr sz="1900">
                <a:solidFill>
                  <a:srgbClr val="B7C3D0"/>
                </a:solidFill>
                <a:latin typeface="Cascadia Code"/>
              </a:defRPr>
            </a:pPr>
            <a:r>
              <a:t>It turns ad hoc prompting into repeatable workflows.</a:t>
            </a:r>
          </a:p>
          <a:p>
            <a:pPr>
              <a:spcAft>
                <a:spcPts val="700"/>
              </a:spcAft>
              <a:defRPr sz="1900">
                <a:solidFill>
                  <a:srgbClr val="B7C3D0"/>
                </a:solidFill>
                <a:latin typeface="Cascadia Code"/>
              </a:defRPr>
            </a:pPr>
            <a:r>
              <a:t>Core primitives: custom instructions, prompt files, skills, agents, retrieval, and human review gates.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1417320"/>
            <a:ext cx="3337560" cy="3886200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0728" y="1572768"/>
            <a:ext cx="2935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Remember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4152" y="1984248"/>
            <a:ext cx="3008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Better context improves quality, speed, and cost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3 / 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5240" y="6473952"/>
            <a:ext cx="491490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What counts as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234440"/>
            <a:ext cx="4892040" cy="80467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Product and system instructions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9048" y="1234440"/>
            <a:ext cx="4892040" cy="80467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021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Repository, organization, path-specific, personal, and agent guidance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377440"/>
            <a:ext cx="4892040" cy="80467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Conversation history and summaries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9048" y="2377440"/>
            <a:ext cx="4892040" cy="80467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Files, selections, issues, pull requests, and tool results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520440"/>
            <a:ext cx="4892040" cy="80467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675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Retrieved docs, web pages, MCP output, and generated plans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4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655319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Important billing nuance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6766560" cy="38862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72768"/>
            <a:ext cx="6364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984248"/>
            <a:ext cx="6437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B7C3D0"/>
                </a:solidFill>
                <a:latin typeface="Cascadia Code"/>
              </a:defRPr>
            </a:pPr>
            <a:r>
              <a:t>"Context is resent" is a useful mental model, not a universal invoice formula.</a:t>
            </a:r>
          </a:p>
          <a:p>
            <a:pPr>
              <a:spcAft>
                <a:spcPts val="700"/>
              </a:spcAft>
              <a:defRPr sz="1900">
                <a:solidFill>
                  <a:srgbClr val="B7C3D0"/>
                </a:solidFill>
                <a:latin typeface="Cascadia Code"/>
              </a:defRPr>
            </a:pPr>
            <a:r>
              <a:t>Some products and models use caching or product-specific accounting.</a:t>
            </a:r>
          </a:p>
          <a:p>
            <a:pPr>
              <a:spcAft>
                <a:spcPts val="700"/>
              </a:spcAft>
              <a:defRPr sz="1900">
                <a:solidFill>
                  <a:srgbClr val="B7C3D0"/>
                </a:solidFill>
                <a:latin typeface="Cascadia Code"/>
              </a:defRPr>
            </a:pPr>
            <a:r>
              <a:t>The practical takeaway remains: stale or irrelevant context increases cost, latency, and confusion.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1417320"/>
            <a:ext cx="3337560" cy="3886200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0728" y="1572768"/>
            <a:ext cx="2935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Remember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4152" y="1984248"/>
            <a:ext cx="3008376" cy="320954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Better context improves quality, speed, and cost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5 / 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5240" y="6473952"/>
            <a:ext cx="819150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Where context gets wasted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234440"/>
            <a:ext cx="4892040" cy="80467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Whole directories or large files when one function matters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9048" y="1234440"/>
            <a:ext cx="4892040" cy="80467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021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Long-running mixed-topic sessions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377440"/>
            <a:ext cx="4892040" cy="80467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Overgrown custom instructions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9048" y="2377440"/>
            <a:ext cx="4892040" cy="80467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Raw logs, build output, generated files, and tool noise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520440"/>
            <a:ext cx="4892040" cy="80467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675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High-cost models used for routine 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9048" y="3520440"/>
            <a:ext cx="4892040" cy="80467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3675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Auto-review or agent tasks with vague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6 / 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35240" y="6473952"/>
            <a:ext cx="982980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The five levers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78992"/>
            <a:ext cx="5760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800" b="1">
                <a:solidFill>
                  <a:srgbClr val="3FB950"/>
                </a:solidFill>
                <a:latin typeface="Cascadia Code"/>
              </a:defRPr>
            </a:pPr>
            <a:r>
              <a:t>Five transferable levers</a:t>
            </a:r>
          </a:p>
        </p:txBody>
      </p:sp>
      <p:sp>
        <p:nvSpPr>
          <p:cNvPr id="6" name="Oval 5"/>
          <p:cNvSpPr/>
          <p:nvPr/>
        </p:nvSpPr>
        <p:spPr>
          <a:xfrm>
            <a:off x="1298448" y="1847088"/>
            <a:ext cx="713232" cy="713232"/>
          </a:xfrm>
          <a:prstGeom prst="ellipse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1975104"/>
            <a:ext cx="7132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scadia Code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61488"/>
            <a:ext cx="2057400" cy="14173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916936"/>
            <a:ext cx="1655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E6EDF3"/>
                </a:solidFill>
                <a:latin typeface="Cascadia Code"/>
              </a:defRPr>
            </a:pPr>
            <a:r>
              <a:t>Context hygiene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3328416"/>
            <a:ext cx="1728216" cy="74066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B7C3D0"/>
                </a:solidFill>
                <a:latin typeface="Cascadia Code"/>
              </a:defRPr>
            </a:pPr>
            <a:r>
              <a:t>Works across surfaces</a:t>
            </a:r>
          </a:p>
          <a:p>
            <a:pPr>
              <a:spcAft>
                <a:spcPts val="700"/>
              </a:spcAft>
              <a:defRPr sz="1200">
                <a:solidFill>
                  <a:srgbClr val="B7C3D0"/>
                </a:solidFill>
                <a:latin typeface="Cascadia Code"/>
              </a:defRPr>
            </a:pPr>
            <a:r>
              <a:t>Tune for the task</a:t>
            </a:r>
          </a:p>
        </p:txBody>
      </p:sp>
      <p:sp>
        <p:nvSpPr>
          <p:cNvPr id="11" name="Oval 10"/>
          <p:cNvSpPr/>
          <p:nvPr/>
        </p:nvSpPr>
        <p:spPr>
          <a:xfrm>
            <a:off x="3566159" y="1847088"/>
            <a:ext cx="713232" cy="713232"/>
          </a:xfrm>
          <a:prstGeom prst="ellipse">
            <a:avLst/>
          </a:prstGeom>
          <a:solidFill>
            <a:srgbClr val="FFAB70"/>
          </a:solidFill>
          <a:ln>
            <a:solidFill>
              <a:srgbClr val="FFAB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59" y="1975104"/>
            <a:ext cx="7132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scadia Code"/>
              </a:defRPr>
            </a:pPr>
            <a: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07791" y="2761488"/>
            <a:ext cx="2057400" cy="14173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2916936"/>
            <a:ext cx="1655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E6EDF3"/>
                </a:solidFill>
                <a:latin typeface="Cascadia Code"/>
              </a:defRPr>
            </a:pPr>
            <a:r>
              <a:t>Prompt discipline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2384" y="3328416"/>
            <a:ext cx="1728216" cy="74066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B7C3D0"/>
                </a:solidFill>
                <a:latin typeface="Cascadia Code"/>
              </a:defRPr>
            </a:pPr>
            <a:r>
              <a:t>Works across surfaces</a:t>
            </a:r>
          </a:p>
          <a:p>
            <a:pPr>
              <a:spcAft>
                <a:spcPts val="700"/>
              </a:spcAft>
              <a:defRPr sz="1200">
                <a:solidFill>
                  <a:srgbClr val="B7C3D0"/>
                </a:solidFill>
                <a:latin typeface="Cascadia Code"/>
              </a:defRPr>
            </a:pPr>
            <a:r>
              <a:t>Tune for the task</a:t>
            </a:r>
          </a:p>
        </p:txBody>
      </p:sp>
      <p:sp>
        <p:nvSpPr>
          <p:cNvPr id="16" name="Oval 15"/>
          <p:cNvSpPr/>
          <p:nvPr/>
        </p:nvSpPr>
        <p:spPr>
          <a:xfrm>
            <a:off x="5833872" y="1847088"/>
            <a:ext cx="713232" cy="713232"/>
          </a:xfrm>
          <a:prstGeom prst="ellipse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33872" y="1975104"/>
            <a:ext cx="7132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scadia Code"/>
              </a:defRPr>
            </a:pPr>
            <a: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75504" y="2761488"/>
            <a:ext cx="2057400" cy="14173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76672" y="2916936"/>
            <a:ext cx="1655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E6EDF3"/>
                </a:solidFill>
                <a:latin typeface="Cascadia Code"/>
              </a:defRPr>
            </a:pPr>
            <a:r>
              <a:t>Model and surface selection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0096" y="3328416"/>
            <a:ext cx="1728216" cy="74066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B7C3D0"/>
                </a:solidFill>
                <a:latin typeface="Cascadia Code"/>
              </a:defRPr>
            </a:pPr>
            <a:r>
              <a:t>Works across surfaces</a:t>
            </a:r>
          </a:p>
          <a:p>
            <a:pPr>
              <a:spcAft>
                <a:spcPts val="700"/>
              </a:spcAft>
              <a:defRPr sz="1200">
                <a:solidFill>
                  <a:srgbClr val="B7C3D0"/>
                </a:solidFill>
                <a:latin typeface="Cascadia Code"/>
              </a:defRPr>
            </a:pPr>
            <a:r>
              <a:t>Tune for the task</a:t>
            </a:r>
          </a:p>
        </p:txBody>
      </p:sp>
      <p:sp>
        <p:nvSpPr>
          <p:cNvPr id="21" name="Oval 20"/>
          <p:cNvSpPr/>
          <p:nvPr/>
        </p:nvSpPr>
        <p:spPr>
          <a:xfrm>
            <a:off x="8101583" y="1847088"/>
            <a:ext cx="713232" cy="713232"/>
          </a:xfrm>
          <a:prstGeom prst="ellipse">
            <a:avLst/>
          </a:prstGeom>
          <a:solidFill>
            <a:srgbClr val="FFAB70"/>
          </a:solidFill>
          <a:ln>
            <a:solidFill>
              <a:srgbClr val="FFAB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1975104"/>
            <a:ext cx="7132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scadia Code"/>
              </a:defRPr>
            </a:pPr>
            <a: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43215" y="2761488"/>
            <a:ext cx="2057400" cy="14173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44383" y="2916936"/>
            <a:ext cx="1655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E6EDF3"/>
                </a:solidFill>
                <a:latin typeface="Cascadia Code"/>
              </a:defRPr>
            </a:pPr>
            <a:r>
              <a:t>Scope and tool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07807" y="3328416"/>
            <a:ext cx="1728216" cy="74066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B7C3D0"/>
                </a:solidFill>
                <a:latin typeface="Cascadia Code"/>
              </a:defRPr>
            </a:pPr>
            <a:r>
              <a:t>Works across surfaces</a:t>
            </a:r>
          </a:p>
          <a:p>
            <a:pPr>
              <a:spcAft>
                <a:spcPts val="700"/>
              </a:spcAft>
              <a:defRPr sz="1200">
                <a:solidFill>
                  <a:srgbClr val="B7C3D0"/>
                </a:solidFill>
                <a:latin typeface="Cascadia Code"/>
              </a:defRPr>
            </a:pPr>
            <a:r>
              <a:t>Tune for the task</a:t>
            </a:r>
          </a:p>
        </p:txBody>
      </p:sp>
      <p:sp>
        <p:nvSpPr>
          <p:cNvPr id="26" name="Oval 25"/>
          <p:cNvSpPr/>
          <p:nvPr/>
        </p:nvSpPr>
        <p:spPr>
          <a:xfrm>
            <a:off x="10369296" y="1847088"/>
            <a:ext cx="713232" cy="713232"/>
          </a:xfrm>
          <a:prstGeom prst="ellipse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69296" y="1975104"/>
            <a:ext cx="7132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scadia Code"/>
              </a:defRPr>
            </a:pPr>
            <a: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10928" y="2761488"/>
            <a:ext cx="2057400" cy="14173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12096" y="2916936"/>
            <a:ext cx="1655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E6EDF3"/>
                </a:solidFill>
                <a:latin typeface="Cascadia Code"/>
              </a:defRPr>
            </a:pPr>
            <a:r>
              <a:t>Measurement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19" y="3328416"/>
            <a:ext cx="1728216" cy="74066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B7C3D0"/>
                </a:solidFill>
                <a:latin typeface="Cascadia Code"/>
              </a:defRPr>
            </a:pPr>
            <a:r>
              <a:t>Works across surfaces</a:t>
            </a:r>
          </a:p>
          <a:p>
            <a:pPr>
              <a:spcAft>
                <a:spcPts val="700"/>
              </a:spcAft>
              <a:defRPr sz="1200">
                <a:solidFill>
                  <a:srgbClr val="B7C3D0"/>
                </a:solidFill>
                <a:latin typeface="Cascadia Code"/>
              </a:defRPr>
            </a:pPr>
            <a:r>
              <a:t>Tune for the task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074920"/>
            <a:ext cx="107899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800" b="1">
                <a:solidFill>
                  <a:srgbClr val="E6EDF3"/>
                </a:solidFill>
                <a:latin typeface="Cascadia Code"/>
              </a:defRPr>
            </a:pPr>
            <a:r>
              <a:t>Use this map instead of teaching a separate framework for every Copilot surface.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7 / 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635240" y="6473952"/>
            <a:ext cx="1146810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Lever 1 - Context hygiene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1408176"/>
            <a:ext cx="1298448" cy="1298448"/>
          </a:xfrm>
          <a:prstGeom prst="ellipse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00784"/>
            <a:ext cx="129844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54480"/>
            <a:ext cx="3749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3FB950"/>
                </a:solidFill>
                <a:latin typeface="Cascadia Code"/>
              </a:defRPr>
            </a:pPr>
            <a:r>
              <a:t>Token optimization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1992" y="1847088"/>
            <a:ext cx="466344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>
                <a:solidFill>
                  <a:srgbClr val="E6EDF3"/>
                </a:solidFill>
                <a:latin typeface="Aptos Display"/>
              </a:defRPr>
            </a:pPr>
            <a:r>
              <a:t>Context hygiene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971800"/>
            <a:ext cx="5349240" cy="23317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9469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What students should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538728"/>
            <a:ext cx="5020055" cy="16550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Start fresh when the task changes.</a:t>
            </a:r>
          </a:p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Summarize before switching focus.</a:t>
            </a:r>
          </a:p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Keep stable source-of-truth docs short and current.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554480"/>
            <a:ext cx="4892040" cy="3749039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170992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Classroom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121408"/>
            <a:ext cx="4562855" cy="307238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Avoid re-discovery loops by preserving useful handoffs.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8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1310639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Lever 2 - Prompt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1408176"/>
            <a:ext cx="1298448" cy="1298448"/>
          </a:xfrm>
          <a:prstGeom prst="ellipse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00784"/>
            <a:ext cx="129844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54480"/>
            <a:ext cx="3749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3FB950"/>
                </a:solidFill>
                <a:latin typeface="Cascadia Code"/>
              </a:defRPr>
            </a:pPr>
            <a:r>
              <a:t>Token optimization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1992" y="1847088"/>
            <a:ext cx="466344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>
                <a:solidFill>
                  <a:srgbClr val="E6EDF3"/>
                </a:solidFill>
                <a:latin typeface="Aptos Display"/>
              </a:defRPr>
            </a:pPr>
            <a:r>
              <a:t>Prompt discipline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971800"/>
            <a:ext cx="5349240" cy="23317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9469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What students should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538728"/>
            <a:ext cx="5020055" cy="16550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Use Markdown structure.</a:t>
            </a:r>
          </a:p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State outcome, scope, constraints, and success criteria.</a:t>
            </a:r>
          </a:p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Reference specific files, issues, PRs, or selections.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554480"/>
            <a:ext cx="4892040" cy="3749039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170992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Classroom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121408"/>
            <a:ext cx="4562855" cy="307238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Add validation gates before risky edits.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9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1474469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Lever 3 - Model and surface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1408176"/>
            <a:ext cx="1298448" cy="1298448"/>
          </a:xfrm>
          <a:prstGeom prst="ellipse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00784"/>
            <a:ext cx="129844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54480"/>
            <a:ext cx="3749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3FB950"/>
                </a:solidFill>
                <a:latin typeface="Cascadia Code"/>
              </a:defRPr>
            </a:pPr>
            <a:r>
              <a:t>Token optimization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1992" y="1847088"/>
            <a:ext cx="466344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>
                <a:solidFill>
                  <a:srgbClr val="E6EDF3"/>
                </a:solidFill>
                <a:latin typeface="Aptos Display"/>
              </a:defRPr>
            </a:pPr>
            <a:r>
              <a:t>Model and surface selection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971800"/>
            <a:ext cx="5349240" cy="23317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9469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What students should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538728"/>
            <a:ext cx="5020055" cy="16550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Choose the cheapest model or surface that can reliably finish the job.</a:t>
            </a:r>
          </a:p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Use VS Code Plan for design, Agent for implementation, Ask for exploration.</a:t>
            </a:r>
          </a:p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Use CLI when you need visible context/tool control.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554480"/>
            <a:ext cx="4892040" cy="3749039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170992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Classroom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121408"/>
            <a:ext cx="4562855" cy="307238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Use code review when the unit of work is a pull request.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10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1638300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Lever 4 - Scope and tool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1408176"/>
            <a:ext cx="1298448" cy="1298448"/>
          </a:xfrm>
          <a:prstGeom prst="ellipse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00784"/>
            <a:ext cx="129844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54480"/>
            <a:ext cx="3749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3FB950"/>
                </a:solidFill>
                <a:latin typeface="Cascadia Code"/>
              </a:defRPr>
            </a:pPr>
            <a:r>
              <a:t>Token optimization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1992" y="1847088"/>
            <a:ext cx="466344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>
                <a:solidFill>
                  <a:srgbClr val="E6EDF3"/>
                </a:solidFill>
                <a:latin typeface="Aptos Display"/>
              </a:defRPr>
            </a:pPr>
            <a:r>
              <a:t>Scope and tool control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971800"/>
            <a:ext cx="5349240" cy="23317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9469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What students should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538728"/>
            <a:ext cx="5020055" cy="16550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Keep workspace, repository, and tool scope tight.</a:t>
            </a:r>
          </a:p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Use targeted instructions instead of one giant instruction file.</a:t>
            </a:r>
          </a:p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Enable MCP tools only when the task needs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554480"/>
            <a:ext cx="4892040" cy="3749039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170992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Classroom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121408"/>
            <a:ext cx="4562855" cy="307238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Use human-in-the-loop approval for high-risk tool actions.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11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1802130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Lever 5 -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1408176"/>
            <a:ext cx="1298448" cy="1298448"/>
          </a:xfrm>
          <a:prstGeom prst="ellipse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00784"/>
            <a:ext cx="129844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Aptos Display"/>
              </a:defRPr>
            </a:pPr>
            <a: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554480"/>
            <a:ext cx="3749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3FB950"/>
                </a:solidFill>
                <a:latin typeface="Cascadia Code"/>
              </a:defRPr>
            </a:pPr>
            <a:r>
              <a:t>Token optimization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1992" y="1847088"/>
            <a:ext cx="466344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>
                <a:solidFill>
                  <a:srgbClr val="E6EDF3"/>
                </a:solidFill>
                <a:latin typeface="Aptos Display"/>
              </a:defRPr>
            </a:pPr>
            <a:r>
              <a:t>Measurement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971800"/>
            <a:ext cx="5349240" cy="23317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9469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What students should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538728"/>
            <a:ext cx="5020055" cy="16550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Measure tokens where exposed.</a:t>
            </a:r>
          </a:p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Measure premium requests, review counts, and billing views where tokens are hidden.</a:t>
            </a:r>
          </a:p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Measure quality with retries, false positives, PR churn, and human rework.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554480"/>
            <a:ext cx="4892040" cy="3749039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170992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Classroom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121408"/>
            <a:ext cx="4562855" cy="307238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B7C3D0"/>
                </a:solidFill>
                <a:latin typeface="Cascadia Code"/>
              </a:defRPr>
            </a:pPr>
            <a:r>
              <a:t>Optimize after you have a baseline.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12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1965960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Surface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987552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0">
                <a:solidFill>
                  <a:srgbClr val="B7C3D0"/>
                </a:solidFill>
                <a:latin typeface="Cascadia Code"/>
              </a:defRPr>
            </a:pPr>
            <a:r>
              <a:t>Not all controls exist everywhere. Teach the habit, then pick the right surface.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00784"/>
            <a:ext cx="3383280" cy="135331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856232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267712"/>
            <a:ext cx="3054096" cy="676656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B7C3D0"/>
                </a:solidFill>
                <a:latin typeface="Cascadia Code"/>
              </a:defRPr>
            </a:pPr>
            <a:r>
              <a:t>most visible token/context controls.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700784"/>
            <a:ext cx="3383280" cy="135331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1856232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VS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2267712"/>
            <a:ext cx="3054096" cy="676656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B7C3D0"/>
                </a:solidFill>
                <a:latin typeface="Cascadia Code"/>
              </a:defRPr>
            </a:pPr>
            <a:r>
              <a:t>daily coding workflow with Ask, Plan, Agent, custom instructions, prompt files, and review.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700784"/>
            <a:ext cx="3383280" cy="135331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76488" y="1856232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GitHub.com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2267712"/>
            <a:ext cx="3054096" cy="676656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B7C3D0"/>
                </a:solidFill>
                <a:latin typeface="Cascadia Code"/>
              </a:defRPr>
            </a:pPr>
            <a:r>
              <a:t>repo, issue, PR, and discussion context.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29584"/>
            <a:ext cx="3383280" cy="135331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685032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Coding/cloud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4096512"/>
            <a:ext cx="3054096" cy="676656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B7C3D0"/>
                </a:solidFill>
                <a:latin typeface="Cascadia Code"/>
              </a:defRPr>
            </a:pPr>
            <a:r>
              <a:t>asynchronous implementation from scoped tasks.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3529584"/>
            <a:ext cx="3383280" cy="135331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685032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Code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152" y="4096512"/>
            <a:ext cx="3054096" cy="676656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B7C3D0"/>
                </a:solidFill>
                <a:latin typeface="Cascadia Code"/>
              </a:defRPr>
            </a:pPr>
            <a:r>
              <a:t>PR-focused feedback with product-specific constraints.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5166360"/>
            <a:ext cx="3383280" cy="841248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1728" y="5321808"/>
            <a:ext cx="298094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E6EDF3"/>
                </a:solidFill>
                <a:latin typeface="Cascadia Code"/>
              </a:defRPr>
            </a:pPr>
            <a:r>
              <a:t>Facilitator cue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5733288"/>
            <a:ext cx="3054096" cy="164592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B7C3D0"/>
                </a:solidFill>
                <a:latin typeface="Cascadia Code"/>
              </a:defRPr>
            </a:pPr>
            <a:r>
              <a:t>Use CLI as the visible reference implementation.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13 / 24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35240" y="6473952"/>
            <a:ext cx="2129790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VS Code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6400800" cy="452628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89888"/>
            <a:ext cx="59984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Recommended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01368"/>
            <a:ext cx="6071616" cy="384962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Curate project context with concise instructions and docs.</a:t>
            </a:r>
          </a:p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Plan first for complex work.</a:t>
            </a:r>
          </a:p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Implement from the plan in a fresh or focused session.</a:t>
            </a:r>
          </a:p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Review changes against the plan.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234440"/>
            <a:ext cx="3886200" cy="1920240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38988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Surface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1801368"/>
            <a:ext cx="3557016" cy="1243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Best for daily coding flow</a:t>
            </a:r>
          </a:p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Use Ask, Plan, Agent, then Review deliberately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429000"/>
            <a:ext cx="3886200" cy="1874519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358444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Risk to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995928"/>
            <a:ext cx="3557016" cy="11978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Vague scope expands context</a:t>
            </a:r>
          </a:p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Broad context creates broad answers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14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2293620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GitHub.com web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6400800" cy="452628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89888"/>
            <a:ext cx="59984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Recommended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01368"/>
            <a:ext cx="6071616" cy="384962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Ask from the page that already has the relevant context.</a:t>
            </a:r>
          </a:p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Keep threads focused.</a:t>
            </a:r>
          </a:p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Use repository, issue, and PR context deliberately.</a:t>
            </a:r>
          </a:p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Treat generated files as drafts.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234440"/>
            <a:ext cx="3886200" cy="1920240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38988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Surface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1801368"/>
            <a:ext cx="3557016" cy="1243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Best when page context matters</a:t>
            </a:r>
          </a:p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Start from the issue, PR, discussion, or repo page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429000"/>
            <a:ext cx="3886200" cy="1874519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358444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Risk to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995928"/>
            <a:ext cx="3557016" cy="11978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Vague scope expands context</a:t>
            </a:r>
          </a:p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Broad context creates broad answers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15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2457450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Copilot CLI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6400800" cy="452628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89888"/>
            <a:ext cx="59984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Recommended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01368"/>
            <a:ext cx="6071616" cy="384962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Use sessions like branches: one task, one focused context.</a:t>
            </a:r>
          </a:p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Filter tool output before it enters the conversation.</a:t>
            </a:r>
          </a:p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Delegate noisy discovery when available.</a:t>
            </a:r>
          </a:p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Use usage/context visibility to teach the token mental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234440"/>
            <a:ext cx="3886200" cy="1920240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38988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Surface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1801368"/>
            <a:ext cx="3557016" cy="1243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Best for transparent tool control</a:t>
            </a:r>
          </a:p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Filter noisy command output before it enters 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429000"/>
            <a:ext cx="3886200" cy="1874519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358444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Risk to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995928"/>
            <a:ext cx="3557016" cy="11978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Vague scope expands context</a:t>
            </a:r>
          </a:p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Broad context creates broad answers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16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2621279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Coding agent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6400800" cy="452628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89888"/>
            <a:ext cx="59984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Recommended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01368"/>
            <a:ext cx="6071616" cy="384962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Write issues like implementation briefs.</a:t>
            </a:r>
          </a:p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Include acceptance criteria, validation commands, and files to avoid.</a:t>
            </a:r>
          </a:p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Keep tasks small enough to review.</a:t>
            </a:r>
          </a:p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Review the generated PR like any other teammate's work.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234440"/>
            <a:ext cx="3886200" cy="1920240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38988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Surface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1801368"/>
            <a:ext cx="3557016" cy="1243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Best for scoped async implementation</a:t>
            </a:r>
          </a:p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Write the task like a small implementation brief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429000"/>
            <a:ext cx="3886200" cy="1874519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358444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Risk to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995928"/>
            <a:ext cx="3557016" cy="11978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Vague scope expands context</a:t>
            </a:r>
          </a:p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Broad context creates broad answers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17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2785110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Code review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234440"/>
            <a:ext cx="6400800" cy="452628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89888"/>
            <a:ext cx="59984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Recommended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01368"/>
            <a:ext cx="6071616" cy="384962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Keep PRs small.</a:t>
            </a:r>
          </a:p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Tune repo and path-specific review instructions.</a:t>
            </a:r>
          </a:p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Watch automatic review policy and quota implications.</a:t>
            </a:r>
          </a:p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Validate Copilot findings; review comments are not approvals.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234440"/>
            <a:ext cx="3886200" cy="1920240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38988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Surface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1801368"/>
            <a:ext cx="3557016" cy="1243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Best for PR-shaped feedback</a:t>
            </a:r>
          </a:p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Tune PR size and review instructions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429000"/>
            <a:ext cx="3886200" cy="1874519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3584448"/>
            <a:ext cx="34838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Risk to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6952" y="3995928"/>
            <a:ext cx="3557016" cy="1197863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Vague scope expands context</a:t>
            </a:r>
          </a:p>
          <a:p>
            <a:pPr>
              <a:spcAft>
                <a:spcPts val="700"/>
              </a:spcAft>
              <a:defRPr sz="1500">
                <a:solidFill>
                  <a:srgbClr val="B7C3D0"/>
                </a:solidFill>
                <a:latin typeface="Cascadia Code"/>
              </a:defRPr>
            </a:pPr>
            <a:r>
              <a:t>Broad context creates broad answers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18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2948939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Context inventory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60704"/>
            <a:ext cx="2743200" cy="3017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3FB950"/>
                </a:solidFill>
                <a:latin typeface="Cascadia Code"/>
              </a:defRPr>
            </a:pPr>
            <a:r>
              <a:t>Hands-on exercise</a:t>
            </a:r>
          </a:p>
        </p:txBody>
      </p:sp>
      <p:sp>
        <p:nvSpPr>
          <p:cNvPr id="6" name="Oval 5"/>
          <p:cNvSpPr/>
          <p:nvPr/>
        </p:nvSpPr>
        <p:spPr>
          <a:xfrm>
            <a:off x="713232" y="1691640"/>
            <a:ext cx="502920" cy="502920"/>
          </a:xfrm>
          <a:prstGeom prst="ellipse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9222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scadia Code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673352"/>
            <a:ext cx="4480560" cy="107899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72768" y="182880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List every context source.</a:t>
            </a:r>
          </a:p>
        </p:txBody>
      </p:sp>
      <p:sp>
        <p:nvSpPr>
          <p:cNvPr id="10" name="Oval 9"/>
          <p:cNvSpPr/>
          <p:nvPr/>
        </p:nvSpPr>
        <p:spPr>
          <a:xfrm>
            <a:off x="6153912" y="1691640"/>
            <a:ext cx="502920" cy="502920"/>
          </a:xfrm>
          <a:prstGeom prst="ellipse">
            <a:avLst/>
          </a:prstGeom>
          <a:solidFill>
            <a:srgbClr val="FFAB70"/>
          </a:solidFill>
          <a:ln>
            <a:solidFill>
              <a:srgbClr val="FFAB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3912" y="179222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scadia Code"/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1673352"/>
            <a:ext cx="4480560" cy="107899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13448" y="182880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Mark required, useful, stale, redundant, sensitive, or unknown.</a:t>
            </a:r>
          </a:p>
        </p:txBody>
      </p:sp>
      <p:sp>
        <p:nvSpPr>
          <p:cNvPr id="14" name="Oval 13"/>
          <p:cNvSpPr/>
          <p:nvPr/>
        </p:nvSpPr>
        <p:spPr>
          <a:xfrm>
            <a:off x="713232" y="3566160"/>
            <a:ext cx="502920" cy="502920"/>
          </a:xfrm>
          <a:prstGeom prst="ellipse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66674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scadia Code"/>
              </a:defRPr>
            </a:pPr>
            <a: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3547872"/>
            <a:ext cx="4480560" cy="107899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72768" y="370332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Decide what stays, what moves, what gets summarized, and what gets removed.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5413248"/>
            <a:ext cx="10652760" cy="713232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568696"/>
            <a:ext cx="102504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200" b="1">
                <a:solidFill>
                  <a:srgbClr val="E6EDF3"/>
                </a:solidFill>
                <a:latin typeface="Cascadia Code"/>
              </a:defRPr>
            </a:pPr>
            <a:r>
              <a:t>Output: a smaller, safer context plan students can reuse after the workshop.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19 / 24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35240" y="6473952"/>
            <a:ext cx="3112769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Instruction diet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60704"/>
            <a:ext cx="2743200" cy="3017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3FB950"/>
                </a:solidFill>
                <a:latin typeface="Cascadia Code"/>
              </a:defRPr>
            </a:pPr>
            <a:r>
              <a:t>Hands-on exercise</a:t>
            </a:r>
          </a:p>
        </p:txBody>
      </p:sp>
      <p:sp>
        <p:nvSpPr>
          <p:cNvPr id="6" name="Oval 5"/>
          <p:cNvSpPr/>
          <p:nvPr/>
        </p:nvSpPr>
        <p:spPr>
          <a:xfrm>
            <a:off x="713232" y="1691640"/>
            <a:ext cx="502920" cy="502920"/>
          </a:xfrm>
          <a:prstGeom prst="ellipse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9222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scadia Code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673352"/>
            <a:ext cx="4480560" cy="107899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72768" y="182880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Keep stable rules always-on.</a:t>
            </a:r>
          </a:p>
        </p:txBody>
      </p:sp>
      <p:sp>
        <p:nvSpPr>
          <p:cNvPr id="10" name="Oval 9"/>
          <p:cNvSpPr/>
          <p:nvPr/>
        </p:nvSpPr>
        <p:spPr>
          <a:xfrm>
            <a:off x="6153912" y="1691640"/>
            <a:ext cx="502920" cy="502920"/>
          </a:xfrm>
          <a:prstGeom prst="ellipse">
            <a:avLst/>
          </a:prstGeom>
          <a:solidFill>
            <a:srgbClr val="FFAB70"/>
          </a:solidFill>
          <a:ln>
            <a:solidFill>
              <a:srgbClr val="FFAB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3912" y="179222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scadia Code"/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1673352"/>
            <a:ext cx="4480560" cy="107899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13448" y="182880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Move targeted rules to path-specific instructions.</a:t>
            </a:r>
          </a:p>
        </p:txBody>
      </p:sp>
      <p:sp>
        <p:nvSpPr>
          <p:cNvPr id="14" name="Oval 13"/>
          <p:cNvSpPr/>
          <p:nvPr/>
        </p:nvSpPr>
        <p:spPr>
          <a:xfrm>
            <a:off x="713232" y="3566160"/>
            <a:ext cx="502920" cy="502920"/>
          </a:xfrm>
          <a:prstGeom prst="ellipse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66674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scadia Code"/>
              </a:defRPr>
            </a:pPr>
            <a: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3547872"/>
            <a:ext cx="4480560" cy="107899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72768" y="370332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Move repeated workflows to prompts, skills, or agents.</a:t>
            </a:r>
          </a:p>
        </p:txBody>
      </p:sp>
      <p:sp>
        <p:nvSpPr>
          <p:cNvPr id="18" name="Oval 17"/>
          <p:cNvSpPr/>
          <p:nvPr/>
        </p:nvSpPr>
        <p:spPr>
          <a:xfrm>
            <a:off x="6153912" y="3566160"/>
            <a:ext cx="502920" cy="502920"/>
          </a:xfrm>
          <a:prstGeom prst="ellipse">
            <a:avLst/>
          </a:prstGeom>
          <a:solidFill>
            <a:srgbClr val="FFAB70"/>
          </a:solidFill>
          <a:ln>
            <a:solidFill>
              <a:srgbClr val="FFAB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3912" y="3666744"/>
            <a:ext cx="50292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scadia Code"/>
              </a:defRPr>
            </a:pPr>
            <a: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2280" y="3547872"/>
            <a:ext cx="4480560" cy="107899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13448" y="3703320"/>
            <a:ext cx="40782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Link long docs instead of copying them into instructions.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5413248"/>
            <a:ext cx="10652760" cy="713232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568696"/>
            <a:ext cx="1025042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200" b="1">
                <a:solidFill>
                  <a:srgbClr val="E6EDF3"/>
                </a:solidFill>
                <a:latin typeface="Cascadia Code"/>
              </a:defRPr>
            </a:pPr>
            <a:r>
              <a:t>Output: a smaller, safer context plan students can reuse after the workshop.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20 / 24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35240" y="6473952"/>
            <a:ext cx="3276600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234440"/>
            <a:ext cx="4892040" cy="80467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Content exclusion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9048" y="1234440"/>
            <a:ext cx="4892040" cy="80467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0216" y="1389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Model access policies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377440"/>
            <a:ext cx="4892040" cy="80467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Code review settings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9048" y="2377440"/>
            <a:ext cx="4892040" cy="80467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2532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Budgets and alerts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520440"/>
            <a:ext cx="4892040" cy="80467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675888"/>
            <a:ext cx="448970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>
                <a:solidFill>
                  <a:srgbClr val="E6EDF3"/>
                </a:solidFill>
                <a:latin typeface="Cascadia Code"/>
              </a:defRPr>
            </a:pPr>
            <a:r>
              <a:t>Telemetry and dashboard ownership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21 / 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6473952"/>
            <a:ext cx="3440429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Delivery tracks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600200"/>
            <a:ext cx="3246120" cy="306324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5564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E6EDF3"/>
                </a:solidFill>
                <a:latin typeface="Cascadia Code"/>
              </a:defRPr>
            </a:pPr>
            <a:r>
              <a:t>Awareness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167128"/>
            <a:ext cx="2916936" cy="2386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1 hour: mental model, surface view, demo, checklist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4828032"/>
            <a:ext cx="3246120" cy="128016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62272" y="1600200"/>
            <a:ext cx="3246120" cy="306324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5564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E6EDF3"/>
                </a:solidFill>
                <a:latin typeface="Cascadia Code"/>
              </a:defRPr>
            </a:pPr>
            <a:r>
              <a:t>Practitioner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167128"/>
            <a:ext cx="2916936" cy="2386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2 hours: practitioner lab and prompt/context refactor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4828032"/>
            <a:ext cx="3246120" cy="128016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11311" y="1600200"/>
            <a:ext cx="3246120" cy="306324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75564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E6EDF3"/>
                </a:solidFill>
                <a:latin typeface="Cascadia Code"/>
              </a:defRPr>
            </a:pPr>
            <a:r>
              <a:t>Applied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3" y="2167128"/>
            <a:ext cx="2916936" cy="2386584"/>
          </a:xfrm>
          <a:prstGeom prst="rect">
            <a:avLst/>
          </a:prstGeom>
          <a:noFill/>
        </p:spPr>
        <p:txBody>
          <a:bodyPr wrap="square" lIns="164592" rIns="146304" tIns="109728" bIns="9144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7C3D0"/>
                </a:solidFill>
                <a:latin typeface="Cascadia Code"/>
              </a:defRPr>
            </a:pPr>
            <a:r>
              <a:t>4 hours: customer environment review and team operating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11311" y="4828032"/>
            <a:ext cx="3246120" cy="128016"/>
          </a:xfrm>
          <a:prstGeom prst="rect">
            <a:avLst/>
          </a:prstGeom>
          <a:solidFill>
            <a:srgbClr val="FFAB70"/>
          </a:solidFill>
          <a:ln>
            <a:solidFill>
              <a:srgbClr val="FFAB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486400"/>
            <a:ext cx="98755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0">
                <a:solidFill>
                  <a:srgbClr val="B7C3D0"/>
                </a:solidFill>
                <a:latin typeface="Cascadia Code"/>
              </a:defRPr>
            </a:pPr>
            <a:r>
              <a:t>Use preflight before the 4-hour version, especially when students review their own repositories.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22 / 24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35240" y="6473952"/>
            <a:ext cx="3604260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What improvement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417320"/>
            <a:ext cx="3246120" cy="1078992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57276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Fewer irrelevant tokens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8" y="1417320"/>
            <a:ext cx="3246120" cy="107899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54296" y="157276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Faster answers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1417320"/>
            <a:ext cx="3246120" cy="107899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7616" y="157276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Fewer retries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3063240"/>
            <a:ext cx="3246120" cy="107899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321868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Higher-signal reviews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53128" y="3063240"/>
            <a:ext cx="3246120" cy="1078992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3218688"/>
            <a:ext cx="28437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E6EDF3"/>
                </a:solidFill>
                <a:latin typeface="Cascadia Code"/>
              </a:defRPr>
            </a:pPr>
            <a:r>
              <a:t>Clearer ownership of policy and measurement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94560" y="5029200"/>
            <a:ext cx="7589520" cy="731520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95728" y="5184648"/>
            <a:ext cx="718718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00" b="1">
                <a:solidFill>
                  <a:srgbClr val="E6EDF3"/>
                </a:solidFill>
                <a:latin typeface="Cascadia Code"/>
              </a:defRPr>
            </a:pPr>
            <a:r>
              <a:t>Promise measurement, not magic savings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23 / 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35240" y="6473952"/>
            <a:ext cx="3768090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784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500" b="1">
                <a:solidFill>
                  <a:srgbClr val="E6EDF3"/>
                </a:solidFill>
                <a:latin typeface="Aptos Display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 sz="900" b="1">
                <a:solidFill>
                  <a:srgbClr val="3FB950"/>
                </a:solidFill>
                <a:latin typeface="Cascadia Code"/>
              </a:defRPr>
            </a:pPr>
            <a:r>
              <a:t>Technical deep 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146304"/>
          </a:xfrm>
          <a:prstGeom prst="rect">
            <a:avLst/>
          </a:prstGeom>
          <a:solidFill>
            <a:srgbClr val="FFAB70"/>
          </a:solidFill>
          <a:ln>
            <a:solidFill>
              <a:srgbClr val="FFAB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" y="1554480"/>
            <a:ext cx="10058400" cy="676656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1288" y="1709928"/>
            <a:ext cx="9656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E6EDF3"/>
                </a:solidFill>
                <a:latin typeface="Cascadia Code"/>
              </a:defRPr>
            </a:pPr>
            <a:r>
              <a:t>Context is a design input, not a dumping ground.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2514600"/>
            <a:ext cx="10058400" cy="676656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2670048"/>
            <a:ext cx="9656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E6EDF3"/>
                </a:solidFill>
                <a:latin typeface="Cascadia Code"/>
              </a:defRPr>
            </a:pPr>
            <a:r>
              <a:t>Token optimization and context engineering improve both cost and 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3474720"/>
            <a:ext cx="10058400" cy="676656"/>
          </a:xfrm>
          <a:prstGeom prst="round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630168"/>
            <a:ext cx="9656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E6EDF3"/>
                </a:solidFill>
                <a:latin typeface="Cascadia Code"/>
              </a:defRPr>
            </a:pPr>
            <a:r>
              <a:t>Surface controls differ; the habits transfer.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4434840"/>
            <a:ext cx="10058400" cy="676656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4590288"/>
            <a:ext cx="9656064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700" b="1">
                <a:solidFill>
                  <a:srgbClr val="E6EDF3"/>
                </a:solidFill>
                <a:latin typeface="Cascadia Code"/>
              </a:defRPr>
            </a:pPr>
            <a:r>
              <a:t>Start with three changes this week and measure.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64224"/>
            <a:ext cx="658368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900" b="0">
                <a:solidFill>
                  <a:srgbClr val="7D8590"/>
                </a:solidFill>
                <a:latin typeface="Cascadia Code"/>
              </a:defRPr>
            </a:pPr>
            <a:r>
              <a:t>Token Optimization + Context Engineering | 24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6473952"/>
            <a:ext cx="3931920" cy="45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1213</Words>
  <Application>Microsoft PowerPoint</Application>
  <PresentationFormat>On-screen Show (16:9)</PresentationFormat>
  <Paragraphs>120</Paragraphs>
  <Slides>24</Slides>
  <Notes>24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Office Theme</vt:lpstr>
      <vt:lpstr>Token Optimization and Context Engineering</vt:lpstr>
      <vt:lpstr>Why this matters now</vt:lpstr>
      <vt:lpstr>Context engineering</vt:lpstr>
      <vt:lpstr>What counts as context</vt:lpstr>
      <vt:lpstr>Important billing nuance</vt:lpstr>
      <vt:lpstr>Where context gets wasted</vt:lpstr>
      <vt:lpstr>The five levers</vt:lpstr>
      <vt:lpstr>Lever 1 - Context hygiene</vt:lpstr>
      <vt:lpstr>Lever 2 - Prompt discipline</vt:lpstr>
      <vt:lpstr>Lever 3 - Model and surface selection</vt:lpstr>
      <vt:lpstr>Lever 4 - Scope and tool control</vt:lpstr>
      <vt:lpstr>Lever 5 - Measurement</vt:lpstr>
      <vt:lpstr>Surface matrix</vt:lpstr>
      <vt:lpstr>VS Code pattern</vt:lpstr>
      <vt:lpstr>GitHub.com web pattern</vt:lpstr>
      <vt:lpstr>Copilot CLI pattern</vt:lpstr>
      <vt:lpstr>Coding agent pattern</vt:lpstr>
      <vt:lpstr>Code review pattern</vt:lpstr>
      <vt:lpstr>Context inventory exercise</vt:lpstr>
      <vt:lpstr>Instruction diet exercise</vt:lpstr>
      <vt:lpstr>Governance</vt:lpstr>
      <vt:lpstr>Delivery tracks</vt:lpstr>
      <vt:lpstr>What improvement looks like</vt:lpstr>
      <vt:lpstr>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Token Optimization and Context Engineering</dc:title>
  <dc:subject>Technical deep dive</dc:subject>
  <dc:creator>GitHub Copilot</dc:creator>
  <cp:keywords/>
  <dc:description>generated using python-pptx</dc:description>
  <cp:lastModifiedBy>Steve Canny</cp:lastModifiedBy>
  <cp:revision>1</cp:revision>
  <dcterms:created xsi:type="dcterms:W3CDTF">2026-01-01T00:00:00Z</dcterms:created>
  <dcterms:modified xsi:type="dcterms:W3CDTF">2026-01-01T00:00:00Z</dcterms:modified>
  <cp:category/>
</cp:coreProperties>
</file>