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>
                <a:latin typeface="Aptos"/>
              </a:defRPr>
            </a:pPr>
            <a:r>
              <a:t>Slide 1: Token Optimization and Context Engineering</a:t>
            </a:r>
          </a:p>
          <a:p>
            <a:pPr>
              <a:defRPr sz="1200">
                <a:latin typeface="Aptos"/>
              </a:defRPr>
            </a:pPr>
            <a:r>
              <a:t>Open by saying this is not a "use less Copilot" session. It is a "get better answers with less waste" session.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>
                <a:latin typeface="Aptos"/>
              </a:defRPr>
            </a:pPr>
            <a:r>
              <a:t>Slide 2: Why this matters now</a:t>
            </a:r>
          </a:p>
          <a:p>
            <a:pPr>
              <a:defRPr sz="1200">
                <a:latin typeface="Aptos"/>
              </a:defRPr>
            </a:pPr>
            <a:r>
              <a:t>Anchor on the current shift: customers need practical habits before usage surprises become trust issues.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>
                <a:latin typeface="Aptos"/>
              </a:defRPr>
            </a:pPr>
            <a:r>
              <a:t>Slide 3: Context engineering</a:t>
            </a:r>
          </a:p>
          <a:p>
            <a:pPr>
              <a:defRPr sz="1200">
                <a:latin typeface="Aptos"/>
              </a:defRPr>
            </a:pPr>
            <a:r>
              <a:t>Define context engineering as an evolution of prompt engineering. The goal is not clever phrasing; the goal is the right information in the right format.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>
                <a:latin typeface="Aptos"/>
              </a:defRPr>
            </a:pPr>
            <a:r>
              <a:t>Slide 4: What counts as context</a:t>
            </a:r>
          </a:p>
          <a:p>
            <a:pPr>
              <a:defRPr sz="1200">
                <a:latin typeface="Aptos"/>
              </a:defRPr>
            </a:pPr>
            <a:r>
              <a:t>Walk left to right through the context inputs. Point out that the user prompt is often the smallest part.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>
                <a:latin typeface="Aptos"/>
              </a:defRPr>
            </a:pPr>
            <a:r>
              <a:t>Slide 5: Important billing nuance</a:t>
            </a:r>
          </a:p>
          <a:p>
            <a:pPr>
              <a:defRPr sz="1200">
                <a:latin typeface="Aptos"/>
              </a:defRPr>
            </a:pPr>
            <a:r>
              <a:t>Use careful language. Product accounting can vary and caching may apply. The workshop teaches habits that remain useful even as billing details change.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>
                <a:latin typeface="Aptos"/>
              </a:defRPr>
            </a:pPr>
            <a:r>
              <a:t>Slide 6: Where context gets wasted</a:t>
            </a:r>
          </a:p>
          <a:p>
            <a:pPr>
              <a:defRPr sz="1200">
                <a:latin typeface="Aptos"/>
              </a:defRPr>
            </a:pPr>
            <a:r>
              <a:t>Emphasize that context waste hurts quality before it hurts the bill. Too much irrelevant context makes the model less focused.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>
                <a:latin typeface="Aptos"/>
              </a:defRPr>
            </a:pPr>
            <a:r>
              <a:t>Slide 7: The five levers</a:t>
            </a:r>
          </a:p>
          <a:p>
            <a:pPr>
              <a:defRPr sz="1200">
                <a:latin typeface="Aptos"/>
              </a:defRPr>
            </a:pPr>
            <a:r>
              <a:t>This is the map for the workshop. Do not create a second framework; map context engineering into these five levers.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>
                <a:latin typeface="Aptos"/>
              </a:defRPr>
            </a:pPr>
            <a:r>
              <a:t>Slide 8: Lever 1 - Context hygiene</a:t>
            </a:r>
          </a:p>
          <a:p>
            <a:pPr>
              <a:defRPr sz="1200">
                <a:latin typeface="Aptos"/>
              </a:defRPr>
            </a:pPr>
            <a:r>
              <a:t>Use the branch analogy: one focused session per task. Clearing context is good between tasks, but clearing and re-reading the same files can be wasteful.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>
                <a:latin typeface="Aptos"/>
              </a:defRPr>
            </a:pPr>
            <a:r>
              <a:t>Slide 9: Lever 2 - Prompt discipline</a:t>
            </a:r>
          </a:p>
          <a:p>
            <a:pPr>
              <a:defRPr sz="1200">
                <a:latin typeface="Aptos"/>
              </a:defRPr>
            </a:pPr>
            <a:r>
              <a:t>Show one overloaded request and one structured request. Keep the demo short.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>
                <a:latin typeface="Aptos"/>
              </a:defRPr>
            </a:pPr>
            <a:r>
              <a:t>Slide 10: Lever 3 - Model and surface selection</a:t>
            </a:r>
          </a:p>
          <a:p>
            <a:pPr>
              <a:defRPr sz="1200">
                <a:latin typeface="Aptos"/>
              </a:defRPr>
            </a:pPr>
            <a:r>
              <a:t>Make model and surface selection practical. The right answer may be a different surface, not just a different model.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>
                <a:latin typeface="Aptos"/>
              </a:defRPr>
            </a:pPr>
            <a:r>
              <a:t>Slide 11: Lever 4 - Scope and tool control</a:t>
            </a:r>
          </a:p>
          <a:p>
            <a:pPr>
              <a:defRPr sz="1200">
                <a:latin typeface="Aptos"/>
              </a:defRPr>
            </a:pPr>
            <a:r>
              <a:t>Explain that every enabled tool is a capability and a possible source of noise. Tool descriptions and access boundaries are product UX.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>
                <a:latin typeface="Aptos"/>
              </a:defRPr>
            </a:pPr>
            <a:r>
              <a:t>Slide 12: Lever 5 - Measurement</a:t>
            </a:r>
          </a:p>
          <a:p>
            <a:pPr>
              <a:defRPr sz="1200">
                <a:latin typeface="Aptos"/>
              </a:defRPr>
            </a:pPr>
            <a:r>
              <a:t>For surfaces without token visibility, measure proxies: retries, PR churn, review false positives, usage dashboards, and time-to-merge.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>
                <a:latin typeface="Aptos"/>
              </a:defRPr>
            </a:pPr>
            <a:r>
              <a:t>Slide 13: Surface matrix</a:t>
            </a:r>
          </a:p>
          <a:p>
            <a:pPr>
              <a:defRPr sz="1200">
                <a:latin typeface="Aptos"/>
              </a:defRPr>
            </a:pPr>
            <a:r>
              <a:t>Warn that the matrix is not parity. Some cells are intentionally "not available."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>
                <a:latin typeface="Aptos"/>
              </a:defRPr>
            </a:pPr>
            <a:r>
              <a:t>Slide 14: VS Code pattern</a:t>
            </a:r>
          </a:p>
          <a:p>
            <a:pPr>
              <a:defRPr sz="1200">
                <a:latin typeface="Aptos"/>
              </a:defRPr>
            </a:pPr>
            <a:r>
              <a:t>VS Code is the daily practitioner path: Ask to understand, Plan to structure, Agent to implement, Review to validate.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>
                <a:latin typeface="Aptos"/>
              </a:defRPr>
            </a:pPr>
            <a:r>
              <a:t>Slide 15: GitHub.com web pattern</a:t>
            </a:r>
          </a:p>
          <a:p>
            <a:pPr>
              <a:defRPr sz="1200">
                <a:latin typeface="Aptos"/>
              </a:defRPr>
            </a:pPr>
            <a:r>
              <a:t>GitHub.com is strongest when the page context matters: repository, issue, pull request, or discussion.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>
                <a:latin typeface="Aptos"/>
              </a:defRPr>
            </a:pPr>
            <a:r>
              <a:t>Slide 16: Copilot CLI pattern</a:t>
            </a:r>
          </a:p>
          <a:p>
            <a:pPr>
              <a:defRPr sz="1200">
                <a:latin typeface="Aptos"/>
              </a:defRPr>
            </a:pPr>
            <a:r>
              <a:t>CLI remains the best live demo for token concepts because context and usage are visible.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>
                <a:latin typeface="Aptos"/>
              </a:defRPr>
            </a:pPr>
            <a:r>
              <a:t>Slide 17: Coding agent pattern</a:t>
            </a:r>
          </a:p>
          <a:p>
            <a:pPr>
              <a:defRPr sz="1200">
                <a:latin typeface="Aptos"/>
              </a:defRPr>
            </a:pPr>
            <a:r>
              <a:t>Coding agent tasks should look like good implementation tickets. Vague tasks create broad exploration and broad diffs.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>
                <a:latin typeface="Aptos"/>
              </a:defRPr>
            </a:pPr>
            <a:r>
              <a:t>Slide 18: Code review pattern</a:t>
            </a:r>
          </a:p>
          <a:p>
            <a:pPr>
              <a:defRPr sz="1200">
                <a:latin typeface="Aptos"/>
              </a:defRPr>
            </a:pPr>
            <a:r>
              <a:t>Code review is purpose-built. Do not promise model switching. Teach PR hygiene and instruction hygiene.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>
                <a:latin typeface="Aptos"/>
              </a:defRPr>
            </a:pPr>
            <a:r>
              <a:t>Slide 19: Context inventory exercise</a:t>
            </a:r>
          </a:p>
          <a:p>
            <a:pPr>
              <a:defRPr sz="1200">
                <a:latin typeface="Aptos"/>
              </a:defRPr>
            </a:pPr>
            <a:r>
              <a:t>Students should discover that some of their "helpful" context is stale, sensitive, or redundant.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>
                <a:latin typeface="Aptos"/>
              </a:defRPr>
            </a:pPr>
            <a:r>
              <a:t>Slide 20: Instruction diet exercise</a:t>
            </a:r>
          </a:p>
          <a:p>
            <a:pPr>
              <a:defRPr sz="1200">
                <a:latin typeface="Aptos"/>
              </a:defRPr>
            </a:pPr>
            <a:r>
              <a:t>This is the most actionable demo. Trim one bloated instruction file and show where the pieces should move.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>
                <a:latin typeface="Aptos"/>
              </a:defRPr>
            </a:pPr>
            <a:r>
              <a:t>Slide 21: Governance</a:t>
            </a:r>
          </a:p>
          <a:p>
            <a:pPr>
              <a:defRPr sz="1200">
                <a:latin typeface="Aptos"/>
              </a:defRPr>
            </a:pPr>
            <a:r>
              <a:t>Separate developer habits from admin controls. Admin controls compound because they apply every turn for every user.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>
                <a:latin typeface="Aptos"/>
              </a:defRPr>
            </a:pPr>
            <a:r>
              <a:t>Slide 22: Delivery tracks</a:t>
            </a:r>
          </a:p>
          <a:p>
            <a:pPr>
              <a:defRPr sz="1200">
                <a:latin typeface="Aptos"/>
              </a:defRPr>
            </a:pPr>
            <a:r>
              <a:t>Match the track to the audience. Do not run the 4-hour customer review without preflight.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>
                <a:latin typeface="Aptos"/>
              </a:defRPr>
            </a:pPr>
            <a:r>
              <a:t>Slide 23: What improvement looks like</a:t>
            </a:r>
          </a:p>
          <a:p>
            <a:pPr>
              <a:defRPr sz="1200">
                <a:latin typeface="Aptos"/>
              </a:defRPr>
            </a:pPr>
            <a:r>
              <a:t>Avoid unsupported savings promises. Talk about directional improvements and measurement.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>
                <a:latin typeface="Aptos"/>
              </a:defRPr>
            </a:pPr>
            <a:r>
              <a:t>Slide 24: Takeaways</a:t>
            </a:r>
          </a:p>
          <a:p>
            <a:pPr>
              <a:defRPr sz="1200">
                <a:latin typeface="Aptos"/>
              </a:defRPr>
            </a:pPr>
            <a:r>
              <a:t>Close with a small commitment: pick three habits, measure for a week, then expand.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solidFill>
              <a:srgbClr val="0B1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109728"/>
          </a:xfrm>
          <a:prstGeom prst="rect">
            <a:avLst/>
          </a:prstGeom>
          <a:solidFill>
            <a:srgbClr val="3FB950"/>
          </a:solidFill>
          <a:ln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2011680" cy="2926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200" b="1">
                <a:solidFill>
                  <a:srgbClr val="FFAB70"/>
                </a:solidFill>
                <a:latin typeface="Cascadia Code"/>
              </a:defRPr>
            </a:pPr>
            <a:r>
              <a:t>Workshop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463040"/>
            <a:ext cx="6400800" cy="1417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3800" b="1">
                <a:solidFill>
                  <a:srgbClr val="E6EDF3"/>
                </a:solidFill>
                <a:latin typeface="Aptos Display"/>
              </a:defRPr>
            </a:pPr>
            <a:r>
              <a:t>Token Optimization and Context Engineering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3127248"/>
            <a:ext cx="4526280" cy="914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800" b="0">
                <a:solidFill>
                  <a:srgbClr val="B7C3D0"/>
                </a:solidFill>
                <a:latin typeface="Cascadia Code"/>
              </a:defRPr>
            </a:pPr>
            <a:r>
              <a:t>Getting more value from every Copilot interaction</a:t>
            </a:r>
            <a:br/>
            <a:r>
              <a:t>Across Copilot CLI, VS Code, GitHub.com, coding agent, and code review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0" y="1170432"/>
            <a:ext cx="4023360" cy="530352"/>
          </a:xfrm>
          <a:prstGeom prst="round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16368" y="1325880"/>
            <a:ext cx="3621024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400" b="1">
                <a:solidFill>
                  <a:srgbClr val="E6EDF3"/>
                </a:solidFill>
                <a:latin typeface="Cascadia Code"/>
              </a:defRPr>
            </a:pPr>
            <a:r>
              <a:t>1. Context hygiene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0" y="1993392"/>
            <a:ext cx="4023360" cy="530352"/>
          </a:xfrm>
          <a:prstGeom prst="round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16368" y="2148840"/>
            <a:ext cx="3621024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400" b="1">
                <a:solidFill>
                  <a:srgbClr val="E6EDF3"/>
                </a:solidFill>
                <a:latin typeface="Cascadia Code"/>
              </a:defRPr>
            </a:pPr>
            <a:r>
              <a:t>2. Prompt discipline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0" y="2816352"/>
            <a:ext cx="4023360" cy="530352"/>
          </a:xfrm>
          <a:prstGeom prst="round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16368" y="2971800"/>
            <a:ext cx="3621024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400" b="1">
                <a:solidFill>
                  <a:srgbClr val="E6EDF3"/>
                </a:solidFill>
                <a:latin typeface="Cascadia Code"/>
              </a:defRPr>
            </a:pPr>
            <a:r>
              <a:t>3. Model/surface routing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0" y="3639312"/>
            <a:ext cx="4023360" cy="530352"/>
          </a:xfrm>
          <a:prstGeom prst="round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16368" y="3794760"/>
            <a:ext cx="3621024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400" b="1">
                <a:solidFill>
                  <a:srgbClr val="E6EDF3"/>
                </a:solidFill>
                <a:latin typeface="Cascadia Code"/>
              </a:defRPr>
            </a:pPr>
            <a:r>
              <a:t>4. Tool scope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0" y="4462272"/>
            <a:ext cx="4023360" cy="530352"/>
          </a:xfrm>
          <a:prstGeom prst="round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16368" y="4617720"/>
            <a:ext cx="3621024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400" b="1">
                <a:solidFill>
                  <a:srgbClr val="E6EDF3"/>
                </a:solidFill>
                <a:latin typeface="Cascadia Code"/>
              </a:defRPr>
            </a:pPr>
            <a:r>
              <a:t>5. Measurement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0" y="6016752"/>
            <a:ext cx="4480560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000" b="0">
                <a:solidFill>
                  <a:srgbClr val="7D8590"/>
                </a:solidFill>
                <a:latin typeface="Cascadia Code"/>
              </a:defRPr>
            </a:pPr>
            <a:r>
              <a:t>Generated from Markdown source with embedded speaker notes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6364224"/>
            <a:ext cx="658368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900" b="0">
                <a:solidFill>
                  <a:srgbClr val="7D8590"/>
                </a:solidFill>
                <a:latin typeface="Cascadia Code"/>
              </a:defRPr>
            </a:pPr>
            <a:r>
              <a:t>Token Optimization + Context Engineering | 1 / 24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635240" y="6473952"/>
            <a:ext cx="3931920" cy="45720"/>
          </a:xfrm>
          <a:prstGeom prst="rect">
            <a:avLst/>
          </a:prstGeom>
          <a:solidFill>
            <a:srgbClr val="172033"/>
          </a:solidFill>
          <a:ln>
            <a:solidFill>
              <a:srgbClr val="172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635240" y="6473952"/>
            <a:ext cx="163829" cy="45720"/>
          </a:xfrm>
          <a:prstGeom prst="rect">
            <a:avLst/>
          </a:prstGeom>
          <a:solidFill>
            <a:srgbClr val="3FB950"/>
          </a:solidFill>
          <a:ln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FB950"/>
          </a:solidFill>
          <a:ln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978408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2500" b="1">
                <a:solidFill>
                  <a:srgbClr val="E6EDF3"/>
                </a:solidFill>
                <a:latin typeface="Aptos Display"/>
              </a:defRPr>
            </a:pPr>
            <a:r>
              <a:t>Why this matters now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411480"/>
            <a:ext cx="15544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 sz="900" b="1">
                <a:solidFill>
                  <a:srgbClr val="3FB950"/>
                </a:solidFill>
                <a:latin typeface="Cascadia Code"/>
              </a:defRPr>
            </a:pPr>
            <a:r>
              <a:t>Technical deep dive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6766560" cy="3886200"/>
          </a:xfrm>
          <a:prstGeom prst="round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1572768"/>
            <a:ext cx="6364224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600" b="1">
                <a:solidFill>
                  <a:srgbClr val="E6EDF3"/>
                </a:solidFill>
                <a:latin typeface="Cascadia Code"/>
              </a:defRPr>
            </a:pPr>
            <a:r>
              <a:t>Key message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984248"/>
            <a:ext cx="6437376" cy="3209544"/>
          </a:xfrm>
          <a:prstGeom prst="rect">
            <a:avLst/>
          </a:prstGeom>
          <a:noFill/>
        </p:spPr>
        <p:txBody>
          <a:bodyPr wrap="square" lIns="164592" rIns="146304" tIns="109728" bIns="91440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B7C3D0"/>
                </a:solidFill>
                <a:latin typeface="Cascadia Code"/>
              </a:defRPr>
            </a:pPr>
            <a:r>
              <a:t>Usage models are shifting from simple request counting toward more granular accounting.</a:t>
            </a:r>
          </a:p>
          <a:p>
            <a:pPr>
              <a:spcAft>
                <a:spcPts val="700"/>
              </a:spcAft>
              <a:defRPr sz="1900">
                <a:solidFill>
                  <a:srgbClr val="B7C3D0"/>
                </a:solidFill>
                <a:latin typeface="Cascadia Code"/>
              </a:defRPr>
            </a:pPr>
            <a:r>
              <a:t>Long conversations, broad tool output, and unnecessary context can affect cost, latency, and quality.</a:t>
            </a:r>
          </a:p>
          <a:p>
            <a:pPr>
              <a:spcAft>
                <a:spcPts val="700"/>
              </a:spcAft>
              <a:defRPr sz="1900">
                <a:solidFill>
                  <a:srgbClr val="B7C3D0"/>
                </a:solidFill>
                <a:latin typeface="Cascadia Code"/>
              </a:defRPr>
            </a:pPr>
            <a:r>
              <a:t>The durable habit is not "use less Copilot"; it is "send better context."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09560" y="1417320"/>
            <a:ext cx="3337560" cy="3886200"/>
          </a:xfrm>
          <a:prstGeom prst="roundRect">
            <a:avLst/>
          </a:prstGeom>
          <a:solidFill>
            <a:srgbClr val="172033"/>
          </a:solidFill>
          <a:ln>
            <a:solidFill>
              <a:srgbClr val="172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10728" y="1572768"/>
            <a:ext cx="2935224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500" b="1">
                <a:solidFill>
                  <a:srgbClr val="E6EDF3"/>
                </a:solidFill>
                <a:latin typeface="Cascadia Code"/>
              </a:defRPr>
            </a:pPr>
            <a:r>
              <a:t>Remember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74152" y="1984248"/>
            <a:ext cx="3008376" cy="3209544"/>
          </a:xfrm>
          <a:prstGeom prst="rect">
            <a:avLst/>
          </a:prstGeom>
          <a:noFill/>
        </p:spPr>
        <p:txBody>
          <a:bodyPr wrap="square" lIns="164592" rIns="146304" tIns="109728" bIns="91440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B7C3D0"/>
                </a:solidFill>
                <a:latin typeface="Cascadia Code"/>
              </a:defRPr>
            </a:pPr>
            <a:r>
              <a:t>Better context improves quality, speed, and cost control.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364224"/>
            <a:ext cx="658368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900" b="0">
                <a:solidFill>
                  <a:srgbClr val="7D8590"/>
                </a:solidFill>
                <a:latin typeface="Cascadia Code"/>
              </a:defRPr>
            </a:pPr>
            <a:r>
              <a:t>Token Optimization + Context Engineering | 2 / 24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635240" y="6473952"/>
            <a:ext cx="3931920" cy="45720"/>
          </a:xfrm>
          <a:prstGeom prst="rect">
            <a:avLst/>
          </a:prstGeom>
          <a:solidFill>
            <a:srgbClr val="172033"/>
          </a:solidFill>
          <a:ln>
            <a:solidFill>
              <a:srgbClr val="172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635240" y="6473952"/>
            <a:ext cx="327659" cy="45720"/>
          </a:xfrm>
          <a:prstGeom prst="rect">
            <a:avLst/>
          </a:prstGeom>
          <a:solidFill>
            <a:srgbClr val="3FB950"/>
          </a:solidFill>
          <a:ln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FB950"/>
          </a:solidFill>
          <a:ln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978408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2500" b="1">
                <a:solidFill>
                  <a:srgbClr val="E6EDF3"/>
                </a:solidFill>
                <a:latin typeface="Aptos Display"/>
              </a:defRPr>
            </a:pPr>
            <a:r>
              <a:t>Context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411480"/>
            <a:ext cx="15544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 sz="900" b="1">
                <a:solidFill>
                  <a:srgbClr val="3FB950"/>
                </a:solidFill>
                <a:latin typeface="Cascadia Code"/>
              </a:defRPr>
            </a:pPr>
            <a:r>
              <a:t>Technical deep dive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6766560" cy="3886200"/>
          </a:xfrm>
          <a:prstGeom prst="round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1572768"/>
            <a:ext cx="6364224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600" b="1">
                <a:solidFill>
                  <a:srgbClr val="E6EDF3"/>
                </a:solidFill>
                <a:latin typeface="Cascadia Code"/>
              </a:defRPr>
            </a:pPr>
            <a:r>
              <a:t>Key message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984248"/>
            <a:ext cx="6437376" cy="3209544"/>
          </a:xfrm>
          <a:prstGeom prst="rect">
            <a:avLst/>
          </a:prstGeom>
          <a:noFill/>
        </p:spPr>
        <p:txBody>
          <a:bodyPr wrap="square" lIns="164592" rIns="146304" tIns="109728" bIns="91440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B7C3D0"/>
                </a:solidFill>
                <a:latin typeface="Cascadia Code"/>
              </a:defRPr>
            </a:pPr>
            <a:r>
              <a:t>Context engineering means bringing the right information, in the right format, to the model.</a:t>
            </a:r>
          </a:p>
          <a:p>
            <a:pPr>
              <a:spcAft>
                <a:spcPts val="700"/>
              </a:spcAft>
              <a:defRPr sz="1900">
                <a:solidFill>
                  <a:srgbClr val="B7C3D0"/>
                </a:solidFill>
                <a:latin typeface="Cascadia Code"/>
              </a:defRPr>
            </a:pPr>
            <a:r>
              <a:t>It turns ad hoc prompting into repeatable workflows.</a:t>
            </a:r>
          </a:p>
          <a:p>
            <a:pPr>
              <a:spcAft>
                <a:spcPts val="700"/>
              </a:spcAft>
              <a:defRPr sz="1900">
                <a:solidFill>
                  <a:srgbClr val="B7C3D0"/>
                </a:solidFill>
                <a:latin typeface="Cascadia Code"/>
              </a:defRPr>
            </a:pPr>
            <a:r>
              <a:t>Core primitives: custom instructions, prompt files, skills, agents, retrieval, and human review gates.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09560" y="1417320"/>
            <a:ext cx="3337560" cy="3886200"/>
          </a:xfrm>
          <a:prstGeom prst="roundRect">
            <a:avLst/>
          </a:prstGeom>
          <a:solidFill>
            <a:srgbClr val="172033"/>
          </a:solidFill>
          <a:ln>
            <a:solidFill>
              <a:srgbClr val="172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10728" y="1572768"/>
            <a:ext cx="2935224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500" b="1">
                <a:solidFill>
                  <a:srgbClr val="E6EDF3"/>
                </a:solidFill>
                <a:latin typeface="Cascadia Code"/>
              </a:defRPr>
            </a:pPr>
            <a:r>
              <a:t>Remember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74152" y="1984248"/>
            <a:ext cx="3008376" cy="3209544"/>
          </a:xfrm>
          <a:prstGeom prst="rect">
            <a:avLst/>
          </a:prstGeom>
          <a:noFill/>
        </p:spPr>
        <p:txBody>
          <a:bodyPr wrap="square" lIns="164592" rIns="146304" tIns="109728" bIns="91440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B7C3D0"/>
                </a:solidFill>
                <a:latin typeface="Cascadia Code"/>
              </a:defRPr>
            </a:pPr>
            <a:r>
              <a:t>Better context improves quality, speed, and cost control.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364224"/>
            <a:ext cx="658368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900" b="0">
                <a:solidFill>
                  <a:srgbClr val="7D8590"/>
                </a:solidFill>
                <a:latin typeface="Cascadia Code"/>
              </a:defRPr>
            </a:pPr>
            <a:r>
              <a:t>Token Optimization + Context Engineering | 3 / 24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635240" y="6473952"/>
            <a:ext cx="3931920" cy="45720"/>
          </a:xfrm>
          <a:prstGeom prst="rect">
            <a:avLst/>
          </a:prstGeom>
          <a:solidFill>
            <a:srgbClr val="172033"/>
          </a:solidFill>
          <a:ln>
            <a:solidFill>
              <a:srgbClr val="172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635240" y="6473952"/>
            <a:ext cx="491490" cy="45720"/>
          </a:xfrm>
          <a:prstGeom prst="rect">
            <a:avLst/>
          </a:prstGeom>
          <a:solidFill>
            <a:srgbClr val="3FB950"/>
          </a:solidFill>
          <a:ln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FB950"/>
          </a:solidFill>
          <a:ln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978408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2500" b="1">
                <a:solidFill>
                  <a:srgbClr val="E6EDF3"/>
                </a:solidFill>
                <a:latin typeface="Aptos Display"/>
              </a:defRPr>
            </a:pPr>
            <a:r>
              <a:t>What counts as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411480"/>
            <a:ext cx="15544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 sz="900" b="1">
                <a:solidFill>
                  <a:srgbClr val="3FB950"/>
                </a:solidFill>
                <a:latin typeface="Cascadia Code"/>
              </a:defRPr>
            </a:pPr>
            <a:r>
              <a:t>Technical deep dive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9808" y="1234440"/>
            <a:ext cx="4892040" cy="804672"/>
          </a:xfrm>
          <a:prstGeom prst="round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50976" y="1389888"/>
            <a:ext cx="4489703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500" b="1">
                <a:solidFill>
                  <a:srgbClr val="E6EDF3"/>
                </a:solidFill>
                <a:latin typeface="Cascadia Code"/>
              </a:defRPr>
            </a:pPr>
            <a:r>
              <a:t>Product and system instructions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99048" y="1234440"/>
            <a:ext cx="4892040" cy="804672"/>
          </a:xfrm>
          <a:prstGeom prst="round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00216" y="1389888"/>
            <a:ext cx="4489703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500" b="1">
                <a:solidFill>
                  <a:srgbClr val="E6EDF3"/>
                </a:solidFill>
                <a:latin typeface="Cascadia Code"/>
              </a:defRPr>
            </a:pPr>
            <a:r>
              <a:t>Repository, organization, path-specific, personal, and agent guidance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2377440"/>
            <a:ext cx="4892040" cy="804672"/>
          </a:xfrm>
          <a:prstGeom prst="round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0976" y="2532888"/>
            <a:ext cx="4489703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500" b="1">
                <a:solidFill>
                  <a:srgbClr val="E6EDF3"/>
                </a:solidFill>
                <a:latin typeface="Cascadia Code"/>
              </a:defRPr>
            </a:pPr>
            <a:r>
              <a:t>Conversation history and summaries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99048" y="2377440"/>
            <a:ext cx="4892040" cy="804672"/>
          </a:xfrm>
          <a:prstGeom prst="round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0216" y="2532888"/>
            <a:ext cx="4489703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500" b="1">
                <a:solidFill>
                  <a:srgbClr val="E6EDF3"/>
                </a:solidFill>
                <a:latin typeface="Cascadia Code"/>
              </a:defRPr>
            </a:pPr>
            <a:r>
              <a:t>Files, selections, issues, pull requests, and tool results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8" y="3520440"/>
            <a:ext cx="4892040" cy="804672"/>
          </a:xfrm>
          <a:prstGeom prst="round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0976" y="3675888"/>
            <a:ext cx="4489703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500" b="1">
                <a:solidFill>
                  <a:srgbClr val="E6EDF3"/>
                </a:solidFill>
                <a:latin typeface="Cascadia Code"/>
              </a:defRPr>
            </a:pPr>
            <a:r>
              <a:t>Retrieved docs, web pages, MCP output, and generated plans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364224"/>
            <a:ext cx="658368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900" b="0">
                <a:solidFill>
                  <a:srgbClr val="7D8590"/>
                </a:solidFill>
                <a:latin typeface="Cascadia Code"/>
              </a:defRPr>
            </a:pPr>
            <a:r>
              <a:t>Token Optimization + Context Engineering | 4 / 24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635240" y="6473952"/>
            <a:ext cx="3931920" cy="45720"/>
          </a:xfrm>
          <a:prstGeom prst="rect">
            <a:avLst/>
          </a:prstGeom>
          <a:solidFill>
            <a:srgbClr val="172033"/>
          </a:solidFill>
          <a:ln>
            <a:solidFill>
              <a:srgbClr val="172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635240" y="6473952"/>
            <a:ext cx="655319" cy="45720"/>
          </a:xfrm>
          <a:prstGeom prst="rect">
            <a:avLst/>
          </a:prstGeom>
          <a:solidFill>
            <a:srgbClr val="3FB950"/>
          </a:solidFill>
          <a:ln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FB950"/>
          </a:solidFill>
          <a:ln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978408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2500" b="1">
                <a:solidFill>
                  <a:srgbClr val="E6EDF3"/>
                </a:solidFill>
                <a:latin typeface="Aptos Display"/>
              </a:defRPr>
            </a:pPr>
            <a:r>
              <a:t>Important billing nuance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411480"/>
            <a:ext cx="15544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 sz="900" b="1">
                <a:solidFill>
                  <a:srgbClr val="3FB950"/>
                </a:solidFill>
                <a:latin typeface="Cascadia Code"/>
              </a:defRPr>
            </a:pPr>
            <a:r>
              <a:t>Technical deep dive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6766560" cy="3886200"/>
          </a:xfrm>
          <a:prstGeom prst="round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1572768"/>
            <a:ext cx="6364224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600" b="1">
                <a:solidFill>
                  <a:srgbClr val="E6EDF3"/>
                </a:solidFill>
                <a:latin typeface="Cascadia Code"/>
              </a:defRPr>
            </a:pPr>
            <a:r>
              <a:t>Key message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984248"/>
            <a:ext cx="6437376" cy="3209544"/>
          </a:xfrm>
          <a:prstGeom prst="rect">
            <a:avLst/>
          </a:prstGeom>
          <a:noFill/>
        </p:spPr>
        <p:txBody>
          <a:bodyPr wrap="square" lIns="164592" rIns="146304" tIns="109728" bIns="91440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B7C3D0"/>
                </a:solidFill>
                <a:latin typeface="Cascadia Code"/>
              </a:defRPr>
            </a:pPr>
            <a:r>
              <a:t>"Context is resent" is a useful mental model, not a universal invoice formula.</a:t>
            </a:r>
          </a:p>
          <a:p>
            <a:pPr>
              <a:spcAft>
                <a:spcPts val="700"/>
              </a:spcAft>
              <a:defRPr sz="1900">
                <a:solidFill>
                  <a:srgbClr val="B7C3D0"/>
                </a:solidFill>
                <a:latin typeface="Cascadia Code"/>
              </a:defRPr>
            </a:pPr>
            <a:r>
              <a:t>Some products and models use caching or product-specific accounting.</a:t>
            </a:r>
          </a:p>
          <a:p>
            <a:pPr>
              <a:spcAft>
                <a:spcPts val="700"/>
              </a:spcAft>
              <a:defRPr sz="1900">
                <a:solidFill>
                  <a:srgbClr val="B7C3D0"/>
                </a:solidFill>
                <a:latin typeface="Cascadia Code"/>
              </a:defRPr>
            </a:pPr>
            <a:r>
              <a:t>The practical takeaway remains: stale or irrelevant context increases cost, latency, and confusion.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09560" y="1417320"/>
            <a:ext cx="3337560" cy="3886200"/>
          </a:xfrm>
          <a:prstGeom prst="roundRect">
            <a:avLst/>
          </a:prstGeom>
          <a:solidFill>
            <a:srgbClr val="172033"/>
          </a:solidFill>
          <a:ln>
            <a:solidFill>
              <a:srgbClr val="172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10728" y="1572768"/>
            <a:ext cx="2935224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500" b="1">
                <a:solidFill>
                  <a:srgbClr val="E6EDF3"/>
                </a:solidFill>
                <a:latin typeface="Cascadia Code"/>
              </a:defRPr>
            </a:pPr>
            <a:r>
              <a:t>Remember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74152" y="1984248"/>
            <a:ext cx="3008376" cy="3209544"/>
          </a:xfrm>
          <a:prstGeom prst="rect">
            <a:avLst/>
          </a:prstGeom>
          <a:noFill/>
        </p:spPr>
        <p:txBody>
          <a:bodyPr wrap="square" lIns="164592" rIns="146304" tIns="109728" bIns="91440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B7C3D0"/>
                </a:solidFill>
                <a:latin typeface="Cascadia Code"/>
              </a:defRPr>
            </a:pPr>
            <a:r>
              <a:t>Better context improves quality, speed, and cost control.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364224"/>
            <a:ext cx="658368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900" b="0">
                <a:solidFill>
                  <a:srgbClr val="7D8590"/>
                </a:solidFill>
                <a:latin typeface="Cascadia Code"/>
              </a:defRPr>
            </a:pPr>
            <a:r>
              <a:t>Token Optimization + Context Engineering | 5 / 24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635240" y="6473952"/>
            <a:ext cx="3931920" cy="45720"/>
          </a:xfrm>
          <a:prstGeom prst="rect">
            <a:avLst/>
          </a:prstGeom>
          <a:solidFill>
            <a:srgbClr val="172033"/>
          </a:solidFill>
          <a:ln>
            <a:solidFill>
              <a:srgbClr val="172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635240" y="6473952"/>
            <a:ext cx="819150" cy="45720"/>
          </a:xfrm>
          <a:prstGeom prst="rect">
            <a:avLst/>
          </a:prstGeom>
          <a:solidFill>
            <a:srgbClr val="3FB950"/>
          </a:solidFill>
          <a:ln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FB950"/>
          </a:solidFill>
          <a:ln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978408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2500" b="1">
                <a:solidFill>
                  <a:srgbClr val="E6EDF3"/>
                </a:solidFill>
                <a:latin typeface="Aptos Display"/>
              </a:defRPr>
            </a:pPr>
            <a:r>
              <a:t>Where context gets wasted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411480"/>
            <a:ext cx="15544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 sz="900" b="1">
                <a:solidFill>
                  <a:srgbClr val="3FB950"/>
                </a:solidFill>
                <a:latin typeface="Cascadia Code"/>
              </a:defRPr>
            </a:pPr>
            <a:r>
              <a:t>Technical deep dive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9808" y="1234440"/>
            <a:ext cx="4892040" cy="804672"/>
          </a:xfrm>
          <a:prstGeom prst="round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50976" y="1389888"/>
            <a:ext cx="4489703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500" b="1">
                <a:solidFill>
                  <a:srgbClr val="E6EDF3"/>
                </a:solidFill>
                <a:latin typeface="Cascadia Code"/>
              </a:defRPr>
            </a:pPr>
            <a:r>
              <a:t>Whole directories or large files when one function matters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99048" y="1234440"/>
            <a:ext cx="4892040" cy="804672"/>
          </a:xfrm>
          <a:prstGeom prst="round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00216" y="1389888"/>
            <a:ext cx="4489703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500" b="1">
                <a:solidFill>
                  <a:srgbClr val="E6EDF3"/>
                </a:solidFill>
                <a:latin typeface="Cascadia Code"/>
              </a:defRPr>
            </a:pPr>
            <a:r>
              <a:t>Long-running mixed-topic sessions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2377440"/>
            <a:ext cx="4892040" cy="804672"/>
          </a:xfrm>
          <a:prstGeom prst="round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0976" y="2532888"/>
            <a:ext cx="4489703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500" b="1">
                <a:solidFill>
                  <a:srgbClr val="E6EDF3"/>
                </a:solidFill>
                <a:latin typeface="Cascadia Code"/>
              </a:defRPr>
            </a:pPr>
            <a:r>
              <a:t>Overgrown custom instructions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99048" y="2377440"/>
            <a:ext cx="4892040" cy="804672"/>
          </a:xfrm>
          <a:prstGeom prst="round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0216" y="2532888"/>
            <a:ext cx="4489703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500" b="1">
                <a:solidFill>
                  <a:srgbClr val="E6EDF3"/>
                </a:solidFill>
                <a:latin typeface="Cascadia Code"/>
              </a:defRPr>
            </a:pPr>
            <a:r>
              <a:t>Raw logs, build output, generated files, and tool noise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8" y="3520440"/>
            <a:ext cx="4892040" cy="804672"/>
          </a:xfrm>
          <a:prstGeom prst="round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0976" y="3675888"/>
            <a:ext cx="4489703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500" b="1">
                <a:solidFill>
                  <a:srgbClr val="E6EDF3"/>
                </a:solidFill>
                <a:latin typeface="Cascadia Code"/>
              </a:defRPr>
            </a:pPr>
            <a:r>
              <a:t>High-cost models used for routine work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99048" y="3520440"/>
            <a:ext cx="4892040" cy="804672"/>
          </a:xfrm>
          <a:prstGeom prst="round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0216" y="3675888"/>
            <a:ext cx="4489703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500" b="1">
                <a:solidFill>
                  <a:srgbClr val="E6EDF3"/>
                </a:solidFill>
                <a:latin typeface="Cascadia Code"/>
              </a:defRPr>
            </a:pPr>
            <a:r>
              <a:t>Auto-review or agent tasks with vague scope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6364224"/>
            <a:ext cx="658368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900" b="0">
                <a:solidFill>
                  <a:srgbClr val="7D8590"/>
                </a:solidFill>
                <a:latin typeface="Cascadia Code"/>
              </a:defRPr>
            </a:pPr>
            <a:r>
              <a:t>Token Optimization + Context Engineering | 6 / 24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35240" y="6473952"/>
            <a:ext cx="3931920" cy="45720"/>
          </a:xfrm>
          <a:prstGeom prst="rect">
            <a:avLst/>
          </a:prstGeom>
          <a:solidFill>
            <a:srgbClr val="172033"/>
          </a:solidFill>
          <a:ln>
            <a:solidFill>
              <a:srgbClr val="172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635240" y="6473952"/>
            <a:ext cx="982980" cy="45720"/>
          </a:xfrm>
          <a:prstGeom prst="rect">
            <a:avLst/>
          </a:prstGeom>
          <a:solidFill>
            <a:srgbClr val="3FB950"/>
          </a:solidFill>
          <a:ln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FB950"/>
          </a:solidFill>
          <a:ln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978408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2500" b="1">
                <a:solidFill>
                  <a:srgbClr val="E6EDF3"/>
                </a:solidFill>
                <a:latin typeface="Aptos Display"/>
              </a:defRPr>
            </a:pPr>
            <a:r>
              <a:t>The five levers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411480"/>
            <a:ext cx="15544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 sz="900" b="1">
                <a:solidFill>
                  <a:srgbClr val="3FB950"/>
                </a:solidFill>
                <a:latin typeface="Cascadia Code"/>
              </a:defRPr>
            </a:pPr>
            <a:r>
              <a:t>Technical deep dive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78992"/>
            <a:ext cx="576072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800" b="1">
                <a:solidFill>
                  <a:srgbClr val="3FB950"/>
                </a:solidFill>
                <a:latin typeface="Cascadia Code"/>
              </a:defRPr>
            </a:pPr>
            <a:r>
              <a:t>Five transferable levers</a:t>
            </a:r>
          </a:p>
        </p:txBody>
      </p:sp>
      <p:sp>
        <p:nvSpPr>
          <p:cNvPr id="6" name="Oval 5"/>
          <p:cNvSpPr/>
          <p:nvPr/>
        </p:nvSpPr>
        <p:spPr>
          <a:xfrm>
            <a:off x="1298448" y="1847088"/>
            <a:ext cx="713232" cy="713232"/>
          </a:xfrm>
          <a:prstGeom prst="ellipse">
            <a:avLst/>
          </a:prstGeom>
          <a:solidFill>
            <a:srgbClr val="3FB950"/>
          </a:solidFill>
          <a:ln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98448" y="1975104"/>
            <a:ext cx="713232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scadia Code"/>
              </a:defRPr>
            </a:pPr>
            <a:r>
              <a:t>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761488"/>
            <a:ext cx="2057400" cy="1417320"/>
          </a:xfrm>
          <a:prstGeom prst="round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7" y="2916936"/>
            <a:ext cx="1655064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400" b="1">
                <a:solidFill>
                  <a:srgbClr val="E6EDF3"/>
                </a:solidFill>
                <a:latin typeface="Cascadia Code"/>
              </a:defRPr>
            </a:pPr>
            <a:r>
              <a:t>Context hygiene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1" y="3328416"/>
            <a:ext cx="1728216" cy="740664"/>
          </a:xfrm>
          <a:prstGeom prst="rect">
            <a:avLst/>
          </a:prstGeom>
          <a:noFill/>
        </p:spPr>
        <p:txBody>
          <a:bodyPr wrap="square" lIns="164592" rIns="146304" tIns="109728" bIns="91440">
            <a:spAutoFit/>
          </a:bodyPr>
          <a:lstStyle/>
          <a:p>
            <a:pPr>
              <a:spcAft>
                <a:spcPts val="700"/>
              </a:spcAft>
              <a:defRPr sz="1200">
                <a:solidFill>
                  <a:srgbClr val="B7C3D0"/>
                </a:solidFill>
                <a:latin typeface="Cascadia Code"/>
              </a:defRPr>
            </a:pPr>
            <a:r>
              <a:t>Works across surfaces</a:t>
            </a:r>
          </a:p>
          <a:p>
            <a:pPr>
              <a:spcAft>
                <a:spcPts val="700"/>
              </a:spcAft>
              <a:defRPr sz="1200">
                <a:solidFill>
                  <a:srgbClr val="B7C3D0"/>
                </a:solidFill>
                <a:latin typeface="Cascadia Code"/>
              </a:defRPr>
            </a:pPr>
            <a:r>
              <a:t>Tune for the task</a:t>
            </a:r>
          </a:p>
        </p:txBody>
      </p:sp>
      <p:sp>
        <p:nvSpPr>
          <p:cNvPr id="11" name="Oval 10"/>
          <p:cNvSpPr/>
          <p:nvPr/>
        </p:nvSpPr>
        <p:spPr>
          <a:xfrm>
            <a:off x="3566159" y="1847088"/>
            <a:ext cx="713232" cy="713232"/>
          </a:xfrm>
          <a:prstGeom prst="ellipse">
            <a:avLst/>
          </a:prstGeom>
          <a:solidFill>
            <a:srgbClr val="FFAB70"/>
          </a:solidFill>
          <a:ln>
            <a:solidFill>
              <a:srgbClr val="FFAB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66159" y="1975104"/>
            <a:ext cx="713232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scadia Code"/>
              </a:defRPr>
            </a:pPr>
            <a:r>
              <a:t>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907791" y="2761488"/>
            <a:ext cx="2057400" cy="1417320"/>
          </a:xfrm>
          <a:prstGeom prst="round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108960" y="2916936"/>
            <a:ext cx="1655064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400" b="1">
                <a:solidFill>
                  <a:srgbClr val="E6EDF3"/>
                </a:solidFill>
                <a:latin typeface="Cascadia Code"/>
              </a:defRPr>
            </a:pPr>
            <a:r>
              <a:t>Prompt discipline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72384" y="3328416"/>
            <a:ext cx="1728216" cy="740664"/>
          </a:xfrm>
          <a:prstGeom prst="rect">
            <a:avLst/>
          </a:prstGeom>
          <a:noFill/>
        </p:spPr>
        <p:txBody>
          <a:bodyPr wrap="square" lIns="164592" rIns="146304" tIns="109728" bIns="91440">
            <a:spAutoFit/>
          </a:bodyPr>
          <a:lstStyle/>
          <a:p>
            <a:pPr>
              <a:spcAft>
                <a:spcPts val="700"/>
              </a:spcAft>
              <a:defRPr sz="1200">
                <a:solidFill>
                  <a:srgbClr val="B7C3D0"/>
                </a:solidFill>
                <a:latin typeface="Cascadia Code"/>
              </a:defRPr>
            </a:pPr>
            <a:r>
              <a:t>Works across surfaces</a:t>
            </a:r>
          </a:p>
          <a:p>
            <a:pPr>
              <a:spcAft>
                <a:spcPts val="700"/>
              </a:spcAft>
              <a:defRPr sz="1200">
                <a:solidFill>
                  <a:srgbClr val="B7C3D0"/>
                </a:solidFill>
                <a:latin typeface="Cascadia Code"/>
              </a:defRPr>
            </a:pPr>
            <a:r>
              <a:t>Tune for the task</a:t>
            </a:r>
          </a:p>
        </p:txBody>
      </p:sp>
      <p:sp>
        <p:nvSpPr>
          <p:cNvPr id="16" name="Oval 15"/>
          <p:cNvSpPr/>
          <p:nvPr/>
        </p:nvSpPr>
        <p:spPr>
          <a:xfrm>
            <a:off x="5833872" y="1847088"/>
            <a:ext cx="713232" cy="713232"/>
          </a:xfrm>
          <a:prstGeom prst="ellipse">
            <a:avLst/>
          </a:prstGeom>
          <a:solidFill>
            <a:srgbClr val="3FB950"/>
          </a:solidFill>
          <a:ln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33872" y="1975104"/>
            <a:ext cx="713232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scadia Code"/>
              </a:defRPr>
            </a:pPr>
            <a:r>
              <a:t>3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175504" y="2761488"/>
            <a:ext cx="2057400" cy="1417320"/>
          </a:xfrm>
          <a:prstGeom prst="round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76672" y="2916936"/>
            <a:ext cx="1655064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400" b="1">
                <a:solidFill>
                  <a:srgbClr val="E6EDF3"/>
                </a:solidFill>
                <a:latin typeface="Cascadia Code"/>
              </a:defRPr>
            </a:pPr>
            <a:r>
              <a:t>Model and surface selection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40096" y="3328416"/>
            <a:ext cx="1728216" cy="740664"/>
          </a:xfrm>
          <a:prstGeom prst="rect">
            <a:avLst/>
          </a:prstGeom>
          <a:noFill/>
        </p:spPr>
        <p:txBody>
          <a:bodyPr wrap="square" lIns="164592" rIns="146304" tIns="109728" bIns="91440">
            <a:spAutoFit/>
          </a:bodyPr>
          <a:lstStyle/>
          <a:p>
            <a:pPr>
              <a:spcAft>
                <a:spcPts val="700"/>
              </a:spcAft>
              <a:defRPr sz="1200">
                <a:solidFill>
                  <a:srgbClr val="B7C3D0"/>
                </a:solidFill>
                <a:latin typeface="Cascadia Code"/>
              </a:defRPr>
            </a:pPr>
            <a:r>
              <a:t>Works across surfaces</a:t>
            </a:r>
          </a:p>
          <a:p>
            <a:pPr>
              <a:spcAft>
                <a:spcPts val="700"/>
              </a:spcAft>
              <a:defRPr sz="1200">
                <a:solidFill>
                  <a:srgbClr val="B7C3D0"/>
                </a:solidFill>
                <a:latin typeface="Cascadia Code"/>
              </a:defRPr>
            </a:pPr>
            <a:r>
              <a:t>Tune for the task</a:t>
            </a:r>
          </a:p>
        </p:txBody>
      </p:sp>
      <p:sp>
        <p:nvSpPr>
          <p:cNvPr id="21" name="Oval 20"/>
          <p:cNvSpPr/>
          <p:nvPr/>
        </p:nvSpPr>
        <p:spPr>
          <a:xfrm>
            <a:off x="8101583" y="1847088"/>
            <a:ext cx="713232" cy="713232"/>
          </a:xfrm>
          <a:prstGeom prst="ellipse">
            <a:avLst/>
          </a:prstGeom>
          <a:solidFill>
            <a:srgbClr val="FFAB70"/>
          </a:solidFill>
          <a:ln>
            <a:solidFill>
              <a:srgbClr val="FFAB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01583" y="1975104"/>
            <a:ext cx="713232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scadia Code"/>
              </a:defRPr>
            </a:pPr>
            <a:r>
              <a:t>4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43215" y="2761488"/>
            <a:ext cx="2057400" cy="1417320"/>
          </a:xfrm>
          <a:prstGeom prst="round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44383" y="2916936"/>
            <a:ext cx="1655064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400" b="1">
                <a:solidFill>
                  <a:srgbClr val="E6EDF3"/>
                </a:solidFill>
                <a:latin typeface="Cascadia Code"/>
              </a:defRPr>
            </a:pPr>
            <a:r>
              <a:t>Scope and tool control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07807" y="3328416"/>
            <a:ext cx="1728216" cy="740664"/>
          </a:xfrm>
          <a:prstGeom prst="rect">
            <a:avLst/>
          </a:prstGeom>
          <a:noFill/>
        </p:spPr>
        <p:txBody>
          <a:bodyPr wrap="square" lIns="164592" rIns="146304" tIns="109728" bIns="91440">
            <a:spAutoFit/>
          </a:bodyPr>
          <a:lstStyle/>
          <a:p>
            <a:pPr>
              <a:spcAft>
                <a:spcPts val="700"/>
              </a:spcAft>
              <a:defRPr sz="1200">
                <a:solidFill>
                  <a:srgbClr val="B7C3D0"/>
                </a:solidFill>
                <a:latin typeface="Cascadia Code"/>
              </a:defRPr>
            </a:pPr>
            <a:r>
              <a:t>Works across surfaces</a:t>
            </a:r>
          </a:p>
          <a:p>
            <a:pPr>
              <a:spcAft>
                <a:spcPts val="700"/>
              </a:spcAft>
              <a:defRPr sz="1200">
                <a:solidFill>
                  <a:srgbClr val="B7C3D0"/>
                </a:solidFill>
                <a:latin typeface="Cascadia Code"/>
              </a:defRPr>
            </a:pPr>
            <a:r>
              <a:t>Tune for the task</a:t>
            </a:r>
          </a:p>
        </p:txBody>
      </p:sp>
      <p:sp>
        <p:nvSpPr>
          <p:cNvPr id="26" name="Oval 25"/>
          <p:cNvSpPr/>
          <p:nvPr/>
        </p:nvSpPr>
        <p:spPr>
          <a:xfrm>
            <a:off x="10369296" y="1847088"/>
            <a:ext cx="713232" cy="713232"/>
          </a:xfrm>
          <a:prstGeom prst="ellipse">
            <a:avLst/>
          </a:prstGeom>
          <a:solidFill>
            <a:srgbClr val="3FB950"/>
          </a:solidFill>
          <a:ln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369296" y="1975104"/>
            <a:ext cx="713232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scadia Code"/>
              </a:defRPr>
            </a:pPr>
            <a:r>
              <a:t>5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710928" y="2761488"/>
            <a:ext cx="2057400" cy="1417320"/>
          </a:xfrm>
          <a:prstGeom prst="round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912096" y="2916936"/>
            <a:ext cx="1655064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400" b="1">
                <a:solidFill>
                  <a:srgbClr val="E6EDF3"/>
                </a:solidFill>
                <a:latin typeface="Cascadia Code"/>
              </a:defRPr>
            </a:pPr>
            <a:r>
              <a:t>Measurement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75519" y="3328416"/>
            <a:ext cx="1728216" cy="740664"/>
          </a:xfrm>
          <a:prstGeom prst="rect">
            <a:avLst/>
          </a:prstGeom>
          <a:noFill/>
        </p:spPr>
        <p:txBody>
          <a:bodyPr wrap="square" lIns="164592" rIns="146304" tIns="109728" bIns="91440">
            <a:spAutoFit/>
          </a:bodyPr>
          <a:lstStyle/>
          <a:p>
            <a:pPr>
              <a:spcAft>
                <a:spcPts val="700"/>
              </a:spcAft>
              <a:defRPr sz="1200">
                <a:solidFill>
                  <a:srgbClr val="B7C3D0"/>
                </a:solidFill>
                <a:latin typeface="Cascadia Code"/>
              </a:defRPr>
            </a:pPr>
            <a:r>
              <a:t>Works across surfaces</a:t>
            </a:r>
          </a:p>
          <a:p>
            <a:pPr>
              <a:spcAft>
                <a:spcPts val="700"/>
              </a:spcAft>
              <a:defRPr sz="1200">
                <a:solidFill>
                  <a:srgbClr val="B7C3D0"/>
                </a:solidFill>
                <a:latin typeface="Cascadia Code"/>
              </a:defRPr>
            </a:pPr>
            <a:r>
              <a:t>Tune for the task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" y="5074920"/>
            <a:ext cx="1078992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800" b="1">
                <a:solidFill>
                  <a:srgbClr val="E6EDF3"/>
                </a:solidFill>
                <a:latin typeface="Cascadia Code"/>
              </a:defRPr>
            </a:pPr>
            <a:r>
              <a:t>Use this map instead of teaching a separate framework for every Copilot surface.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" y="6364224"/>
            <a:ext cx="658368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900" b="0">
                <a:solidFill>
                  <a:srgbClr val="7D8590"/>
                </a:solidFill>
                <a:latin typeface="Cascadia Code"/>
              </a:defRPr>
            </a:pPr>
            <a:r>
              <a:t>Token Optimization + Context Engineering | 7 / 24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635240" y="6473952"/>
            <a:ext cx="3931920" cy="45720"/>
          </a:xfrm>
          <a:prstGeom prst="rect">
            <a:avLst/>
          </a:prstGeom>
          <a:solidFill>
            <a:srgbClr val="172033"/>
          </a:solidFill>
          <a:ln>
            <a:solidFill>
              <a:srgbClr val="172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635240" y="6473952"/>
            <a:ext cx="1146810" cy="45720"/>
          </a:xfrm>
          <a:prstGeom prst="rect">
            <a:avLst/>
          </a:prstGeom>
          <a:solidFill>
            <a:srgbClr val="3FB950"/>
          </a:solidFill>
          <a:ln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FB950"/>
          </a:solidFill>
          <a:ln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978408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2500" b="1">
                <a:solidFill>
                  <a:srgbClr val="E6EDF3"/>
                </a:solidFill>
                <a:latin typeface="Aptos Display"/>
              </a:defRPr>
            </a:pPr>
            <a:r>
              <a:t>Lever 1 - Context hygiene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411480"/>
            <a:ext cx="15544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 sz="900" b="1">
                <a:solidFill>
                  <a:srgbClr val="3FB950"/>
                </a:solidFill>
                <a:latin typeface="Cascadia Code"/>
              </a:defRPr>
            </a:pPr>
            <a:r>
              <a:t>Technical deep dive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1408176"/>
            <a:ext cx="1298448" cy="1298448"/>
          </a:xfrm>
          <a:prstGeom prst="ellipse">
            <a:avLst/>
          </a:prstGeom>
          <a:solidFill>
            <a:srgbClr val="3FB950"/>
          </a:solidFill>
          <a:ln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700784"/>
            <a:ext cx="129844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Aptos Display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40280" y="1554480"/>
            <a:ext cx="3749039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300" b="1">
                <a:solidFill>
                  <a:srgbClr val="3FB950"/>
                </a:solidFill>
                <a:latin typeface="Cascadia Code"/>
              </a:defRPr>
            </a:pPr>
            <a:r>
              <a:t>Token optimization lever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21992" y="1847088"/>
            <a:ext cx="4663440" cy="566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2800" b="1">
                <a:solidFill>
                  <a:srgbClr val="E6EDF3"/>
                </a:solidFill>
                <a:latin typeface="Aptos Display"/>
              </a:defRPr>
            </a:pPr>
            <a:r>
              <a:t>Context hygiene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2971800"/>
            <a:ext cx="5349240" cy="2331720"/>
          </a:xfrm>
          <a:prstGeom prst="round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127248"/>
            <a:ext cx="4946903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500" b="1">
                <a:solidFill>
                  <a:srgbClr val="E6EDF3"/>
                </a:solidFill>
                <a:latin typeface="Cascadia Code"/>
              </a:defRPr>
            </a:pPr>
            <a:r>
              <a:t>What students should practice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" y="3538728"/>
            <a:ext cx="5020055" cy="1655063"/>
          </a:xfrm>
          <a:prstGeom prst="rect">
            <a:avLst/>
          </a:prstGeom>
          <a:noFill/>
        </p:spPr>
        <p:txBody>
          <a:bodyPr wrap="square" lIns="164592" rIns="146304" tIns="109728" bIns="91440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B7C3D0"/>
                </a:solidFill>
                <a:latin typeface="Cascadia Code"/>
              </a:defRPr>
            </a:pPr>
            <a:r>
              <a:t>Start fresh when the task changes.</a:t>
            </a:r>
          </a:p>
          <a:p>
            <a:pPr>
              <a:spcAft>
                <a:spcPts val="700"/>
              </a:spcAft>
              <a:defRPr sz="1600">
                <a:solidFill>
                  <a:srgbClr val="B7C3D0"/>
                </a:solidFill>
                <a:latin typeface="Cascadia Code"/>
              </a:defRPr>
            </a:pPr>
            <a:r>
              <a:t>Summarize before switching focus.</a:t>
            </a:r>
          </a:p>
          <a:p>
            <a:pPr>
              <a:spcAft>
                <a:spcPts val="700"/>
              </a:spcAft>
              <a:defRPr sz="1600">
                <a:solidFill>
                  <a:srgbClr val="B7C3D0"/>
                </a:solidFill>
                <a:latin typeface="Cascadia Code"/>
              </a:defRPr>
            </a:pPr>
            <a:r>
              <a:t>Keep stable source-of-truth docs short and current.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46520" y="1554480"/>
            <a:ext cx="4892040" cy="3749039"/>
          </a:xfrm>
          <a:prstGeom prst="roundRect">
            <a:avLst/>
          </a:prstGeom>
          <a:solidFill>
            <a:srgbClr val="172033"/>
          </a:solidFill>
          <a:ln>
            <a:solidFill>
              <a:srgbClr val="172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47688" y="1709928"/>
            <a:ext cx="4489703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500" b="1">
                <a:solidFill>
                  <a:srgbClr val="E6EDF3"/>
                </a:solidFill>
                <a:latin typeface="Cascadia Code"/>
              </a:defRPr>
            </a:pPr>
            <a:r>
              <a:t>Classroom move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11112" y="2121408"/>
            <a:ext cx="4562855" cy="3072383"/>
          </a:xfrm>
          <a:prstGeom prst="rect">
            <a:avLst/>
          </a:prstGeom>
          <a:noFill/>
        </p:spPr>
        <p:txBody>
          <a:bodyPr wrap="square" lIns="164592" rIns="146304" tIns="109728" bIns="91440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B7C3D0"/>
                </a:solidFill>
                <a:latin typeface="Cascadia Code"/>
              </a:defRPr>
            </a:pPr>
            <a:r>
              <a:t>Avoid re-discovery loops by preserving useful handoffs.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364224"/>
            <a:ext cx="658368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900" b="0">
                <a:solidFill>
                  <a:srgbClr val="7D8590"/>
                </a:solidFill>
                <a:latin typeface="Cascadia Code"/>
              </a:defRPr>
            </a:pPr>
            <a:r>
              <a:t>Token Optimization + Context Engineering | 8 / 24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635240" y="6473952"/>
            <a:ext cx="3931920" cy="45720"/>
          </a:xfrm>
          <a:prstGeom prst="rect">
            <a:avLst/>
          </a:prstGeom>
          <a:solidFill>
            <a:srgbClr val="172033"/>
          </a:solidFill>
          <a:ln>
            <a:solidFill>
              <a:srgbClr val="172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635240" y="6473952"/>
            <a:ext cx="1310639" cy="45720"/>
          </a:xfrm>
          <a:prstGeom prst="rect">
            <a:avLst/>
          </a:prstGeom>
          <a:solidFill>
            <a:srgbClr val="3FB950"/>
          </a:solidFill>
          <a:ln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FB950"/>
          </a:solidFill>
          <a:ln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978408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2500" b="1">
                <a:solidFill>
                  <a:srgbClr val="E6EDF3"/>
                </a:solidFill>
                <a:latin typeface="Aptos Display"/>
              </a:defRPr>
            </a:pPr>
            <a:r>
              <a:t>Lever 2 - Prompt discipline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411480"/>
            <a:ext cx="15544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 sz="900" b="1">
                <a:solidFill>
                  <a:srgbClr val="3FB950"/>
                </a:solidFill>
                <a:latin typeface="Cascadia Code"/>
              </a:defRPr>
            </a:pPr>
            <a:r>
              <a:t>Technical deep dive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1408176"/>
            <a:ext cx="1298448" cy="1298448"/>
          </a:xfrm>
          <a:prstGeom prst="ellipse">
            <a:avLst/>
          </a:prstGeom>
          <a:solidFill>
            <a:srgbClr val="3FB950"/>
          </a:solidFill>
          <a:ln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700784"/>
            <a:ext cx="129844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Aptos Display"/>
              </a:defRPr>
            </a:pPr>
            <a: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40280" y="1554480"/>
            <a:ext cx="3749039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300" b="1">
                <a:solidFill>
                  <a:srgbClr val="3FB950"/>
                </a:solidFill>
                <a:latin typeface="Cascadia Code"/>
              </a:defRPr>
            </a:pPr>
            <a:r>
              <a:t>Token optimization lever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21992" y="1847088"/>
            <a:ext cx="4663440" cy="566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2800" b="1">
                <a:solidFill>
                  <a:srgbClr val="E6EDF3"/>
                </a:solidFill>
                <a:latin typeface="Aptos Display"/>
              </a:defRPr>
            </a:pPr>
            <a:r>
              <a:t>Prompt discipline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2971800"/>
            <a:ext cx="5349240" cy="2331720"/>
          </a:xfrm>
          <a:prstGeom prst="round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127248"/>
            <a:ext cx="4946903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500" b="1">
                <a:solidFill>
                  <a:srgbClr val="E6EDF3"/>
                </a:solidFill>
                <a:latin typeface="Cascadia Code"/>
              </a:defRPr>
            </a:pPr>
            <a:r>
              <a:t>What students should practice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" y="3538728"/>
            <a:ext cx="5020055" cy="1655063"/>
          </a:xfrm>
          <a:prstGeom prst="rect">
            <a:avLst/>
          </a:prstGeom>
          <a:noFill/>
        </p:spPr>
        <p:txBody>
          <a:bodyPr wrap="square" lIns="164592" rIns="146304" tIns="109728" bIns="91440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B7C3D0"/>
                </a:solidFill>
                <a:latin typeface="Cascadia Code"/>
              </a:defRPr>
            </a:pPr>
            <a:r>
              <a:t>Use Markdown structure.</a:t>
            </a:r>
          </a:p>
          <a:p>
            <a:pPr>
              <a:spcAft>
                <a:spcPts val="700"/>
              </a:spcAft>
              <a:defRPr sz="1600">
                <a:solidFill>
                  <a:srgbClr val="B7C3D0"/>
                </a:solidFill>
                <a:latin typeface="Cascadia Code"/>
              </a:defRPr>
            </a:pPr>
            <a:r>
              <a:t>State outcome, scope, constraints, and success criteria.</a:t>
            </a:r>
          </a:p>
          <a:p>
            <a:pPr>
              <a:spcAft>
                <a:spcPts val="700"/>
              </a:spcAft>
              <a:defRPr sz="1600">
                <a:solidFill>
                  <a:srgbClr val="B7C3D0"/>
                </a:solidFill>
                <a:latin typeface="Cascadia Code"/>
              </a:defRPr>
            </a:pPr>
            <a:r>
              <a:t>Reference specific files, issues, PRs, or selections.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46520" y="1554480"/>
            <a:ext cx="4892040" cy="3749039"/>
          </a:xfrm>
          <a:prstGeom prst="roundRect">
            <a:avLst/>
          </a:prstGeom>
          <a:solidFill>
            <a:srgbClr val="172033"/>
          </a:solidFill>
          <a:ln>
            <a:solidFill>
              <a:srgbClr val="172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47688" y="1709928"/>
            <a:ext cx="4489703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500" b="1">
                <a:solidFill>
                  <a:srgbClr val="E6EDF3"/>
                </a:solidFill>
                <a:latin typeface="Cascadia Code"/>
              </a:defRPr>
            </a:pPr>
            <a:r>
              <a:t>Classroom move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11112" y="2121408"/>
            <a:ext cx="4562855" cy="3072383"/>
          </a:xfrm>
          <a:prstGeom prst="rect">
            <a:avLst/>
          </a:prstGeom>
          <a:noFill/>
        </p:spPr>
        <p:txBody>
          <a:bodyPr wrap="square" lIns="164592" rIns="146304" tIns="109728" bIns="91440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B7C3D0"/>
                </a:solidFill>
                <a:latin typeface="Cascadia Code"/>
              </a:defRPr>
            </a:pPr>
            <a:r>
              <a:t>Add validation gates before risky edits.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364224"/>
            <a:ext cx="658368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900" b="0">
                <a:solidFill>
                  <a:srgbClr val="7D8590"/>
                </a:solidFill>
                <a:latin typeface="Cascadia Code"/>
              </a:defRPr>
            </a:pPr>
            <a:r>
              <a:t>Token Optimization + Context Engineering | 9 / 24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635240" y="6473952"/>
            <a:ext cx="3931920" cy="45720"/>
          </a:xfrm>
          <a:prstGeom prst="rect">
            <a:avLst/>
          </a:prstGeom>
          <a:solidFill>
            <a:srgbClr val="172033"/>
          </a:solidFill>
          <a:ln>
            <a:solidFill>
              <a:srgbClr val="172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635240" y="6473952"/>
            <a:ext cx="1474469" cy="45720"/>
          </a:xfrm>
          <a:prstGeom prst="rect">
            <a:avLst/>
          </a:prstGeom>
          <a:solidFill>
            <a:srgbClr val="3FB950"/>
          </a:solidFill>
          <a:ln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FB950"/>
          </a:solidFill>
          <a:ln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978408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2500" b="1">
                <a:solidFill>
                  <a:srgbClr val="E6EDF3"/>
                </a:solidFill>
                <a:latin typeface="Aptos Display"/>
              </a:defRPr>
            </a:pPr>
            <a:r>
              <a:t>Lever 3 - Model and surface selection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411480"/>
            <a:ext cx="15544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 sz="900" b="1">
                <a:solidFill>
                  <a:srgbClr val="3FB950"/>
                </a:solidFill>
                <a:latin typeface="Cascadia Code"/>
              </a:defRPr>
            </a:pPr>
            <a:r>
              <a:t>Technical deep dive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1408176"/>
            <a:ext cx="1298448" cy="1298448"/>
          </a:xfrm>
          <a:prstGeom prst="ellipse">
            <a:avLst/>
          </a:prstGeom>
          <a:solidFill>
            <a:srgbClr val="3FB950"/>
          </a:solidFill>
          <a:ln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700784"/>
            <a:ext cx="129844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Aptos Display"/>
              </a:defRPr>
            </a:pPr>
            <a: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40280" y="1554480"/>
            <a:ext cx="3749039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300" b="1">
                <a:solidFill>
                  <a:srgbClr val="3FB950"/>
                </a:solidFill>
                <a:latin typeface="Cascadia Code"/>
              </a:defRPr>
            </a:pPr>
            <a:r>
              <a:t>Token optimization lever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21992" y="1847088"/>
            <a:ext cx="4663440" cy="566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2800" b="1">
                <a:solidFill>
                  <a:srgbClr val="E6EDF3"/>
                </a:solidFill>
                <a:latin typeface="Aptos Display"/>
              </a:defRPr>
            </a:pPr>
            <a:r>
              <a:t>Model and surface selection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2971800"/>
            <a:ext cx="5349240" cy="2331720"/>
          </a:xfrm>
          <a:prstGeom prst="round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127248"/>
            <a:ext cx="4946903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500" b="1">
                <a:solidFill>
                  <a:srgbClr val="E6EDF3"/>
                </a:solidFill>
                <a:latin typeface="Cascadia Code"/>
              </a:defRPr>
            </a:pPr>
            <a:r>
              <a:t>What students should practice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" y="3538728"/>
            <a:ext cx="5020055" cy="1655063"/>
          </a:xfrm>
          <a:prstGeom prst="rect">
            <a:avLst/>
          </a:prstGeom>
          <a:noFill/>
        </p:spPr>
        <p:txBody>
          <a:bodyPr wrap="square" lIns="164592" rIns="146304" tIns="109728" bIns="91440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B7C3D0"/>
                </a:solidFill>
                <a:latin typeface="Cascadia Code"/>
              </a:defRPr>
            </a:pPr>
            <a:r>
              <a:t>Choose the cheapest model or surface that can reliably finish the job.</a:t>
            </a:r>
          </a:p>
          <a:p>
            <a:pPr>
              <a:spcAft>
                <a:spcPts val="700"/>
              </a:spcAft>
              <a:defRPr sz="1600">
                <a:solidFill>
                  <a:srgbClr val="B7C3D0"/>
                </a:solidFill>
                <a:latin typeface="Cascadia Code"/>
              </a:defRPr>
            </a:pPr>
            <a:r>
              <a:t>Use VS Code Plan for design, Agent for implementation, Ask for exploration.</a:t>
            </a:r>
          </a:p>
          <a:p>
            <a:pPr>
              <a:spcAft>
                <a:spcPts val="700"/>
              </a:spcAft>
              <a:defRPr sz="1600">
                <a:solidFill>
                  <a:srgbClr val="B7C3D0"/>
                </a:solidFill>
                <a:latin typeface="Cascadia Code"/>
              </a:defRPr>
            </a:pPr>
            <a:r>
              <a:t>Use CLI when you need visible context/tool control.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46520" y="1554480"/>
            <a:ext cx="4892040" cy="3749039"/>
          </a:xfrm>
          <a:prstGeom prst="roundRect">
            <a:avLst/>
          </a:prstGeom>
          <a:solidFill>
            <a:srgbClr val="172033"/>
          </a:solidFill>
          <a:ln>
            <a:solidFill>
              <a:srgbClr val="172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47688" y="1709928"/>
            <a:ext cx="4489703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500" b="1">
                <a:solidFill>
                  <a:srgbClr val="E6EDF3"/>
                </a:solidFill>
                <a:latin typeface="Cascadia Code"/>
              </a:defRPr>
            </a:pPr>
            <a:r>
              <a:t>Classroom move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11112" y="2121408"/>
            <a:ext cx="4562855" cy="3072383"/>
          </a:xfrm>
          <a:prstGeom prst="rect">
            <a:avLst/>
          </a:prstGeom>
          <a:noFill/>
        </p:spPr>
        <p:txBody>
          <a:bodyPr wrap="square" lIns="164592" rIns="146304" tIns="109728" bIns="91440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B7C3D0"/>
                </a:solidFill>
                <a:latin typeface="Cascadia Code"/>
              </a:defRPr>
            </a:pPr>
            <a:r>
              <a:t>Use code review when the unit of work is a pull request.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364224"/>
            <a:ext cx="658368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900" b="0">
                <a:solidFill>
                  <a:srgbClr val="7D8590"/>
                </a:solidFill>
                <a:latin typeface="Cascadia Code"/>
              </a:defRPr>
            </a:pPr>
            <a:r>
              <a:t>Token Optimization + Context Engineering | 10 / 24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635240" y="6473952"/>
            <a:ext cx="3931920" cy="45720"/>
          </a:xfrm>
          <a:prstGeom prst="rect">
            <a:avLst/>
          </a:prstGeom>
          <a:solidFill>
            <a:srgbClr val="172033"/>
          </a:solidFill>
          <a:ln>
            <a:solidFill>
              <a:srgbClr val="172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635240" y="6473952"/>
            <a:ext cx="1638300" cy="45720"/>
          </a:xfrm>
          <a:prstGeom prst="rect">
            <a:avLst/>
          </a:prstGeom>
          <a:solidFill>
            <a:srgbClr val="3FB950"/>
          </a:solidFill>
          <a:ln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FB950"/>
          </a:solidFill>
          <a:ln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978408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2500" b="1">
                <a:solidFill>
                  <a:srgbClr val="E6EDF3"/>
                </a:solidFill>
                <a:latin typeface="Aptos Display"/>
              </a:defRPr>
            </a:pPr>
            <a:r>
              <a:t>Lever 4 - Scope and tool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411480"/>
            <a:ext cx="15544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 sz="900" b="1">
                <a:solidFill>
                  <a:srgbClr val="3FB950"/>
                </a:solidFill>
                <a:latin typeface="Cascadia Code"/>
              </a:defRPr>
            </a:pPr>
            <a:r>
              <a:t>Technical deep dive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1408176"/>
            <a:ext cx="1298448" cy="1298448"/>
          </a:xfrm>
          <a:prstGeom prst="ellipse">
            <a:avLst/>
          </a:prstGeom>
          <a:solidFill>
            <a:srgbClr val="3FB950"/>
          </a:solidFill>
          <a:ln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700784"/>
            <a:ext cx="129844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Aptos Display"/>
              </a:defRPr>
            </a:pPr>
            <a: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40280" y="1554480"/>
            <a:ext cx="3749039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300" b="1">
                <a:solidFill>
                  <a:srgbClr val="3FB950"/>
                </a:solidFill>
                <a:latin typeface="Cascadia Code"/>
              </a:defRPr>
            </a:pPr>
            <a:r>
              <a:t>Token optimization lever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21992" y="1847088"/>
            <a:ext cx="4663440" cy="566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2800" b="1">
                <a:solidFill>
                  <a:srgbClr val="E6EDF3"/>
                </a:solidFill>
                <a:latin typeface="Aptos Display"/>
              </a:defRPr>
            </a:pPr>
            <a:r>
              <a:t>Scope and tool control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2971800"/>
            <a:ext cx="5349240" cy="2331720"/>
          </a:xfrm>
          <a:prstGeom prst="round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127248"/>
            <a:ext cx="4946903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500" b="1">
                <a:solidFill>
                  <a:srgbClr val="E6EDF3"/>
                </a:solidFill>
                <a:latin typeface="Cascadia Code"/>
              </a:defRPr>
            </a:pPr>
            <a:r>
              <a:t>What students should practice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" y="3538728"/>
            <a:ext cx="5020055" cy="1655063"/>
          </a:xfrm>
          <a:prstGeom prst="rect">
            <a:avLst/>
          </a:prstGeom>
          <a:noFill/>
        </p:spPr>
        <p:txBody>
          <a:bodyPr wrap="square" lIns="164592" rIns="146304" tIns="109728" bIns="91440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B7C3D0"/>
                </a:solidFill>
                <a:latin typeface="Cascadia Code"/>
              </a:defRPr>
            </a:pPr>
            <a:r>
              <a:t>Keep workspace, repository, and tool scope tight.</a:t>
            </a:r>
          </a:p>
          <a:p>
            <a:pPr>
              <a:spcAft>
                <a:spcPts val="700"/>
              </a:spcAft>
              <a:defRPr sz="1600">
                <a:solidFill>
                  <a:srgbClr val="B7C3D0"/>
                </a:solidFill>
                <a:latin typeface="Cascadia Code"/>
              </a:defRPr>
            </a:pPr>
            <a:r>
              <a:t>Use targeted instructions instead of one giant instruction file.</a:t>
            </a:r>
          </a:p>
          <a:p>
            <a:pPr>
              <a:spcAft>
                <a:spcPts val="700"/>
              </a:spcAft>
              <a:defRPr sz="1600">
                <a:solidFill>
                  <a:srgbClr val="B7C3D0"/>
                </a:solidFill>
                <a:latin typeface="Cascadia Code"/>
              </a:defRPr>
            </a:pPr>
            <a:r>
              <a:t>Enable MCP tools only when the task needs them.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46520" y="1554480"/>
            <a:ext cx="4892040" cy="3749039"/>
          </a:xfrm>
          <a:prstGeom prst="roundRect">
            <a:avLst/>
          </a:prstGeom>
          <a:solidFill>
            <a:srgbClr val="172033"/>
          </a:solidFill>
          <a:ln>
            <a:solidFill>
              <a:srgbClr val="172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47688" y="1709928"/>
            <a:ext cx="4489703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500" b="1">
                <a:solidFill>
                  <a:srgbClr val="E6EDF3"/>
                </a:solidFill>
                <a:latin typeface="Cascadia Code"/>
              </a:defRPr>
            </a:pPr>
            <a:r>
              <a:t>Classroom move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11112" y="2121408"/>
            <a:ext cx="4562855" cy="3072383"/>
          </a:xfrm>
          <a:prstGeom prst="rect">
            <a:avLst/>
          </a:prstGeom>
          <a:noFill/>
        </p:spPr>
        <p:txBody>
          <a:bodyPr wrap="square" lIns="164592" rIns="146304" tIns="109728" bIns="91440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B7C3D0"/>
                </a:solidFill>
                <a:latin typeface="Cascadia Code"/>
              </a:defRPr>
            </a:pPr>
            <a:r>
              <a:t>Use human-in-the-loop approval for high-risk tool actions.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364224"/>
            <a:ext cx="658368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900" b="0">
                <a:solidFill>
                  <a:srgbClr val="7D8590"/>
                </a:solidFill>
                <a:latin typeface="Cascadia Code"/>
              </a:defRPr>
            </a:pPr>
            <a:r>
              <a:t>Token Optimization + Context Engineering | 11 / 24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635240" y="6473952"/>
            <a:ext cx="3931920" cy="45720"/>
          </a:xfrm>
          <a:prstGeom prst="rect">
            <a:avLst/>
          </a:prstGeom>
          <a:solidFill>
            <a:srgbClr val="172033"/>
          </a:solidFill>
          <a:ln>
            <a:solidFill>
              <a:srgbClr val="172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635240" y="6473952"/>
            <a:ext cx="1802130" cy="45720"/>
          </a:xfrm>
          <a:prstGeom prst="rect">
            <a:avLst/>
          </a:prstGeom>
          <a:solidFill>
            <a:srgbClr val="3FB950"/>
          </a:solidFill>
          <a:ln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FB950"/>
          </a:solidFill>
          <a:ln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978408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2500" b="1">
                <a:solidFill>
                  <a:srgbClr val="E6EDF3"/>
                </a:solidFill>
                <a:latin typeface="Aptos Display"/>
              </a:defRPr>
            </a:pPr>
            <a:r>
              <a:t>Lever 5 - Measurement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411480"/>
            <a:ext cx="15544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 sz="900" b="1">
                <a:solidFill>
                  <a:srgbClr val="3FB950"/>
                </a:solidFill>
                <a:latin typeface="Cascadia Code"/>
              </a:defRPr>
            </a:pPr>
            <a:r>
              <a:t>Technical deep dive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1408176"/>
            <a:ext cx="1298448" cy="1298448"/>
          </a:xfrm>
          <a:prstGeom prst="ellipse">
            <a:avLst/>
          </a:prstGeom>
          <a:solidFill>
            <a:srgbClr val="3FB950"/>
          </a:solidFill>
          <a:ln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700784"/>
            <a:ext cx="129844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Aptos Display"/>
              </a:defRPr>
            </a:pPr>
            <a: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40280" y="1554480"/>
            <a:ext cx="3749039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300" b="1">
                <a:solidFill>
                  <a:srgbClr val="3FB950"/>
                </a:solidFill>
                <a:latin typeface="Cascadia Code"/>
              </a:defRPr>
            </a:pPr>
            <a:r>
              <a:t>Token optimization lever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21992" y="1847088"/>
            <a:ext cx="4663440" cy="566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2800" b="1">
                <a:solidFill>
                  <a:srgbClr val="E6EDF3"/>
                </a:solidFill>
                <a:latin typeface="Aptos Display"/>
              </a:defRPr>
            </a:pPr>
            <a:r>
              <a:t>Measurement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2971800"/>
            <a:ext cx="5349240" cy="2331720"/>
          </a:xfrm>
          <a:prstGeom prst="round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127248"/>
            <a:ext cx="4946903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500" b="1">
                <a:solidFill>
                  <a:srgbClr val="E6EDF3"/>
                </a:solidFill>
                <a:latin typeface="Cascadia Code"/>
              </a:defRPr>
            </a:pPr>
            <a:r>
              <a:t>What students should practice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" y="3538728"/>
            <a:ext cx="5020055" cy="1655063"/>
          </a:xfrm>
          <a:prstGeom prst="rect">
            <a:avLst/>
          </a:prstGeom>
          <a:noFill/>
        </p:spPr>
        <p:txBody>
          <a:bodyPr wrap="square" lIns="164592" rIns="146304" tIns="109728" bIns="91440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B7C3D0"/>
                </a:solidFill>
                <a:latin typeface="Cascadia Code"/>
              </a:defRPr>
            </a:pPr>
            <a:r>
              <a:t>Measure tokens where exposed.</a:t>
            </a:r>
          </a:p>
          <a:p>
            <a:pPr>
              <a:spcAft>
                <a:spcPts val="700"/>
              </a:spcAft>
              <a:defRPr sz="1600">
                <a:solidFill>
                  <a:srgbClr val="B7C3D0"/>
                </a:solidFill>
                <a:latin typeface="Cascadia Code"/>
              </a:defRPr>
            </a:pPr>
            <a:r>
              <a:t>Measure premium requests, review counts, and billing views where tokens are hidden.</a:t>
            </a:r>
          </a:p>
          <a:p>
            <a:pPr>
              <a:spcAft>
                <a:spcPts val="700"/>
              </a:spcAft>
              <a:defRPr sz="1600">
                <a:solidFill>
                  <a:srgbClr val="B7C3D0"/>
                </a:solidFill>
                <a:latin typeface="Cascadia Code"/>
              </a:defRPr>
            </a:pPr>
            <a:r>
              <a:t>Measure quality with retries, false positives, PR churn, and human rework.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46520" y="1554480"/>
            <a:ext cx="4892040" cy="3749039"/>
          </a:xfrm>
          <a:prstGeom prst="roundRect">
            <a:avLst/>
          </a:prstGeom>
          <a:solidFill>
            <a:srgbClr val="172033"/>
          </a:solidFill>
          <a:ln>
            <a:solidFill>
              <a:srgbClr val="172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47688" y="1709928"/>
            <a:ext cx="4489703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500" b="1">
                <a:solidFill>
                  <a:srgbClr val="E6EDF3"/>
                </a:solidFill>
                <a:latin typeface="Cascadia Code"/>
              </a:defRPr>
            </a:pPr>
            <a:r>
              <a:t>Classroom move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11112" y="2121408"/>
            <a:ext cx="4562855" cy="3072383"/>
          </a:xfrm>
          <a:prstGeom prst="rect">
            <a:avLst/>
          </a:prstGeom>
          <a:noFill/>
        </p:spPr>
        <p:txBody>
          <a:bodyPr wrap="square" lIns="164592" rIns="146304" tIns="109728" bIns="91440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B7C3D0"/>
                </a:solidFill>
                <a:latin typeface="Cascadia Code"/>
              </a:defRPr>
            </a:pPr>
            <a:r>
              <a:t>Optimize after you have a baseline.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364224"/>
            <a:ext cx="658368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900" b="0">
                <a:solidFill>
                  <a:srgbClr val="7D8590"/>
                </a:solidFill>
                <a:latin typeface="Cascadia Code"/>
              </a:defRPr>
            </a:pPr>
            <a:r>
              <a:t>Token Optimization + Context Engineering | 12 / 24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635240" y="6473952"/>
            <a:ext cx="3931920" cy="45720"/>
          </a:xfrm>
          <a:prstGeom prst="rect">
            <a:avLst/>
          </a:prstGeom>
          <a:solidFill>
            <a:srgbClr val="172033"/>
          </a:solidFill>
          <a:ln>
            <a:solidFill>
              <a:srgbClr val="172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635240" y="6473952"/>
            <a:ext cx="1965960" cy="45720"/>
          </a:xfrm>
          <a:prstGeom prst="rect">
            <a:avLst/>
          </a:prstGeom>
          <a:solidFill>
            <a:srgbClr val="3FB950"/>
          </a:solidFill>
          <a:ln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FB950"/>
          </a:solidFill>
          <a:ln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978408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2500" b="1">
                <a:solidFill>
                  <a:srgbClr val="E6EDF3"/>
                </a:solidFill>
                <a:latin typeface="Aptos Display"/>
              </a:defRPr>
            </a:pPr>
            <a:r>
              <a:t>Surface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411480"/>
            <a:ext cx="15544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 sz="900" b="1">
                <a:solidFill>
                  <a:srgbClr val="3FB950"/>
                </a:solidFill>
                <a:latin typeface="Cascadia Code"/>
              </a:defRPr>
            </a:pPr>
            <a:r>
              <a:t>Technical deep dive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51560"/>
            <a:ext cx="9875520" cy="34747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600" b="0">
                <a:solidFill>
                  <a:srgbClr val="B7C3D0"/>
                </a:solidFill>
                <a:latin typeface="Cascadia Code"/>
              </a:defRPr>
            </a:pPr>
            <a:r>
              <a:t>Not all controls exist everywhere. Teach the habit, then pick the right surface.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700784"/>
            <a:ext cx="3383280" cy="1353312"/>
          </a:xfrm>
          <a:prstGeom prst="round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1856232"/>
            <a:ext cx="2980944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600" b="1">
                <a:solidFill>
                  <a:srgbClr val="E6EDF3"/>
                </a:solidFill>
                <a:latin typeface="Cascadia Code"/>
              </a:defRPr>
            </a:pPr>
            <a:r>
              <a:t>CLI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2267712"/>
            <a:ext cx="3054096" cy="676656"/>
          </a:xfrm>
          <a:prstGeom prst="rect">
            <a:avLst/>
          </a:prstGeom>
          <a:noFill/>
        </p:spPr>
        <p:txBody>
          <a:bodyPr wrap="square" lIns="164592" rIns="146304" tIns="109728" bIns="91440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B7C3D0"/>
                </a:solidFill>
                <a:latin typeface="Cascadia Code"/>
              </a:defRPr>
            </a:pPr>
            <a:r>
              <a:t>most visible token/context controls.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1700784"/>
            <a:ext cx="3383280" cy="1353312"/>
          </a:xfrm>
          <a:prstGeom prst="round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81728" y="1856232"/>
            <a:ext cx="2980944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600" b="1">
                <a:solidFill>
                  <a:srgbClr val="E6EDF3"/>
                </a:solidFill>
                <a:latin typeface="Cascadia Code"/>
              </a:defRPr>
            </a:pPr>
            <a:r>
              <a:t>VS Code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45152" y="2267712"/>
            <a:ext cx="3054096" cy="676656"/>
          </a:xfrm>
          <a:prstGeom prst="rect">
            <a:avLst/>
          </a:prstGeom>
          <a:noFill/>
        </p:spPr>
        <p:txBody>
          <a:bodyPr wrap="square" lIns="164592" rIns="146304" tIns="109728" bIns="91440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B7C3D0"/>
                </a:solidFill>
                <a:latin typeface="Cascadia Code"/>
              </a:defRPr>
            </a:pPr>
            <a:r>
              <a:t>daily coding workflow with Ask, Plan, Agent, custom instructions, prompt files, and review.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75320" y="1700784"/>
            <a:ext cx="3383280" cy="1353312"/>
          </a:xfrm>
          <a:prstGeom prst="round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76488" y="1856232"/>
            <a:ext cx="2980944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600" b="1">
                <a:solidFill>
                  <a:srgbClr val="E6EDF3"/>
                </a:solidFill>
                <a:latin typeface="Cascadia Code"/>
              </a:defRPr>
            </a:pPr>
            <a:r>
              <a:t>GitHub.com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39912" y="2267712"/>
            <a:ext cx="3054096" cy="676656"/>
          </a:xfrm>
          <a:prstGeom prst="rect">
            <a:avLst/>
          </a:prstGeom>
          <a:noFill/>
        </p:spPr>
        <p:txBody>
          <a:bodyPr wrap="square" lIns="164592" rIns="146304" tIns="109728" bIns="91440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B7C3D0"/>
                </a:solidFill>
                <a:latin typeface="Cascadia Code"/>
              </a:defRPr>
            </a:pPr>
            <a:r>
              <a:t>repo, issue, PR, and discussion context.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3529584"/>
            <a:ext cx="3383280" cy="1353312"/>
          </a:xfrm>
          <a:prstGeom prst="round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6968" y="3685032"/>
            <a:ext cx="2980944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600" b="1">
                <a:solidFill>
                  <a:srgbClr val="E6EDF3"/>
                </a:solidFill>
                <a:latin typeface="Cascadia Code"/>
              </a:defRPr>
            </a:pPr>
            <a:r>
              <a:t>Coding/cloud agent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" y="4096512"/>
            <a:ext cx="3054096" cy="676656"/>
          </a:xfrm>
          <a:prstGeom prst="rect">
            <a:avLst/>
          </a:prstGeom>
          <a:noFill/>
        </p:spPr>
        <p:txBody>
          <a:bodyPr wrap="square" lIns="164592" rIns="146304" tIns="109728" bIns="91440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B7C3D0"/>
                </a:solidFill>
                <a:latin typeface="Cascadia Code"/>
              </a:defRPr>
            </a:pPr>
            <a:r>
              <a:t>asynchronous implementation from scoped tasks.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80560" y="3529584"/>
            <a:ext cx="3383280" cy="1353312"/>
          </a:xfrm>
          <a:prstGeom prst="round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81728" y="3685032"/>
            <a:ext cx="2980944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600" b="1">
                <a:solidFill>
                  <a:srgbClr val="E6EDF3"/>
                </a:solidFill>
                <a:latin typeface="Cascadia Code"/>
              </a:defRPr>
            </a:pPr>
            <a:r>
              <a:t>Code review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45152" y="4096512"/>
            <a:ext cx="3054096" cy="676656"/>
          </a:xfrm>
          <a:prstGeom prst="rect">
            <a:avLst/>
          </a:prstGeom>
          <a:noFill/>
        </p:spPr>
        <p:txBody>
          <a:bodyPr wrap="square" lIns="164592" rIns="146304" tIns="109728" bIns="91440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B7C3D0"/>
                </a:solidFill>
                <a:latin typeface="Cascadia Code"/>
              </a:defRPr>
            </a:pPr>
            <a:r>
              <a:t>PR-focused feedback with product-specific constraints.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80560" y="5303520"/>
            <a:ext cx="3383280" cy="658368"/>
          </a:xfrm>
          <a:prstGeom prst="roundRect">
            <a:avLst/>
          </a:prstGeom>
          <a:solidFill>
            <a:srgbClr val="172033"/>
          </a:solidFill>
          <a:ln>
            <a:solidFill>
              <a:srgbClr val="172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81728" y="5458968"/>
            <a:ext cx="2980944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300" b="1">
                <a:solidFill>
                  <a:srgbClr val="E6EDF3"/>
                </a:solidFill>
                <a:latin typeface="Cascadia Code"/>
              </a:defRPr>
            </a:pPr>
            <a:r>
              <a:t>Facilitator cue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45152" y="5870448"/>
            <a:ext cx="3054096" cy="-18288"/>
          </a:xfrm>
          <a:prstGeom prst="rect">
            <a:avLst/>
          </a:prstGeom>
          <a:noFill/>
        </p:spPr>
        <p:txBody>
          <a:bodyPr wrap="square" lIns="164592" rIns="146304" tIns="109728" bIns="91440">
            <a:spAutoFit/>
          </a:bodyPr>
          <a:lstStyle/>
          <a:p>
            <a:pPr>
              <a:spcAft>
                <a:spcPts val="700"/>
              </a:spcAft>
              <a:defRPr sz="1100">
                <a:solidFill>
                  <a:srgbClr val="B7C3D0"/>
                </a:solidFill>
                <a:latin typeface="Cascadia Code"/>
              </a:defRPr>
            </a:pPr>
            <a:r>
              <a:t>Use CLI as the visible reference implementation.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6364224"/>
            <a:ext cx="658368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900" b="0">
                <a:solidFill>
                  <a:srgbClr val="7D8590"/>
                </a:solidFill>
                <a:latin typeface="Cascadia Code"/>
              </a:defRPr>
            </a:pPr>
            <a:r>
              <a:t>Token Optimization + Context Engineering | 13 / 24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35240" y="6473952"/>
            <a:ext cx="3931920" cy="45720"/>
          </a:xfrm>
          <a:prstGeom prst="rect">
            <a:avLst/>
          </a:prstGeom>
          <a:solidFill>
            <a:srgbClr val="172033"/>
          </a:solidFill>
          <a:ln>
            <a:solidFill>
              <a:srgbClr val="172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35240" y="6473952"/>
            <a:ext cx="2129790" cy="45720"/>
          </a:xfrm>
          <a:prstGeom prst="rect">
            <a:avLst/>
          </a:prstGeom>
          <a:solidFill>
            <a:srgbClr val="3FB950"/>
          </a:solidFill>
          <a:ln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FB950"/>
          </a:solidFill>
          <a:ln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978408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2500" b="1">
                <a:solidFill>
                  <a:srgbClr val="E6EDF3"/>
                </a:solidFill>
                <a:latin typeface="Aptos Display"/>
              </a:defRPr>
            </a:pPr>
            <a:r>
              <a:t>VS Code pattern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411480"/>
            <a:ext cx="15544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 sz="900" b="1">
                <a:solidFill>
                  <a:srgbClr val="3FB950"/>
                </a:solidFill>
                <a:latin typeface="Cascadia Code"/>
              </a:defRPr>
            </a:pPr>
            <a:r>
              <a:t>Technical deep dive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" y="1234440"/>
            <a:ext cx="6400800" cy="4526280"/>
          </a:xfrm>
          <a:prstGeom prst="round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389888"/>
            <a:ext cx="5998464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600" b="1">
                <a:solidFill>
                  <a:srgbClr val="E6EDF3"/>
                </a:solidFill>
                <a:latin typeface="Cascadia Code"/>
              </a:defRPr>
            </a:pPr>
            <a:r>
              <a:t>Recommended pattern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7824" y="1801368"/>
            <a:ext cx="6071616" cy="3849624"/>
          </a:xfrm>
          <a:prstGeom prst="rect">
            <a:avLst/>
          </a:prstGeom>
          <a:noFill/>
        </p:spPr>
        <p:txBody>
          <a:bodyPr wrap="square" lIns="164592" rIns="146304" tIns="109728" bIns="91440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B7C3D0"/>
                </a:solidFill>
                <a:latin typeface="Cascadia Code"/>
              </a:defRPr>
            </a:pPr>
            <a:r>
              <a:t>Curate project context with concise instructions and docs.</a:t>
            </a:r>
          </a:p>
          <a:p>
            <a:pPr>
              <a:spcAft>
                <a:spcPts val="700"/>
              </a:spcAft>
              <a:defRPr sz="1700">
                <a:solidFill>
                  <a:srgbClr val="B7C3D0"/>
                </a:solidFill>
                <a:latin typeface="Cascadia Code"/>
              </a:defRPr>
            </a:pPr>
            <a:r>
              <a:t>Plan first for complex work.</a:t>
            </a:r>
          </a:p>
          <a:p>
            <a:pPr>
              <a:spcAft>
                <a:spcPts val="700"/>
              </a:spcAft>
              <a:defRPr sz="1700">
                <a:solidFill>
                  <a:srgbClr val="B7C3D0"/>
                </a:solidFill>
                <a:latin typeface="Cascadia Code"/>
              </a:defRPr>
            </a:pPr>
            <a:r>
              <a:t>Implement from the plan in a fresh or focused session.</a:t>
            </a:r>
          </a:p>
          <a:p>
            <a:pPr>
              <a:spcAft>
                <a:spcPts val="700"/>
              </a:spcAft>
              <a:defRPr sz="1700">
                <a:solidFill>
                  <a:srgbClr val="B7C3D0"/>
                </a:solidFill>
                <a:latin typeface="Cascadia Code"/>
              </a:defRPr>
            </a:pPr>
            <a:r>
              <a:t>Review changes against the plan.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52360" y="1234440"/>
            <a:ext cx="3886200" cy="1920240"/>
          </a:xfrm>
          <a:prstGeom prst="roundRect">
            <a:avLst/>
          </a:prstGeom>
          <a:solidFill>
            <a:srgbClr val="172033"/>
          </a:solidFill>
          <a:ln>
            <a:solidFill>
              <a:srgbClr val="172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53528" y="1389888"/>
            <a:ext cx="3483864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500" b="1">
                <a:solidFill>
                  <a:srgbClr val="E6EDF3"/>
                </a:solidFill>
                <a:latin typeface="Cascadia Code"/>
              </a:defRPr>
            </a:pPr>
            <a:r>
              <a:t>Surface fit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16952" y="1801368"/>
            <a:ext cx="3557016" cy="1243584"/>
          </a:xfrm>
          <a:prstGeom prst="rect">
            <a:avLst/>
          </a:prstGeom>
          <a:noFill/>
        </p:spPr>
        <p:txBody>
          <a:bodyPr wrap="square" lIns="164592" rIns="146304" tIns="109728" bIns="91440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B7C3D0"/>
                </a:solidFill>
                <a:latin typeface="Cascadia Code"/>
              </a:defRPr>
            </a:pPr>
            <a:r>
              <a:t>Best for daily coding flow</a:t>
            </a:r>
          </a:p>
          <a:p>
            <a:pPr>
              <a:spcAft>
                <a:spcPts val="700"/>
              </a:spcAft>
              <a:defRPr sz="1500">
                <a:solidFill>
                  <a:srgbClr val="B7C3D0"/>
                </a:solidFill>
                <a:latin typeface="Cascadia Code"/>
              </a:defRPr>
            </a:pPr>
            <a:r>
              <a:t>Use Ask, Plan, Agent, then Review deliberately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52360" y="3429000"/>
            <a:ext cx="3886200" cy="1874519"/>
          </a:xfrm>
          <a:prstGeom prst="round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53528" y="3584448"/>
            <a:ext cx="3483864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500" b="1">
                <a:solidFill>
                  <a:srgbClr val="E6EDF3"/>
                </a:solidFill>
                <a:latin typeface="Cascadia Code"/>
              </a:defRPr>
            </a:pPr>
            <a:r>
              <a:t>Risk to watch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16952" y="3995928"/>
            <a:ext cx="3557016" cy="1197863"/>
          </a:xfrm>
          <a:prstGeom prst="rect">
            <a:avLst/>
          </a:prstGeom>
          <a:noFill/>
        </p:spPr>
        <p:txBody>
          <a:bodyPr wrap="square" lIns="164592" rIns="146304" tIns="109728" bIns="91440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B7C3D0"/>
                </a:solidFill>
                <a:latin typeface="Cascadia Code"/>
              </a:defRPr>
            </a:pPr>
            <a:r>
              <a:t>Vague scope expands context</a:t>
            </a:r>
          </a:p>
          <a:p>
            <a:pPr>
              <a:spcAft>
                <a:spcPts val="700"/>
              </a:spcAft>
              <a:defRPr sz="1500">
                <a:solidFill>
                  <a:srgbClr val="B7C3D0"/>
                </a:solidFill>
                <a:latin typeface="Cascadia Code"/>
              </a:defRPr>
            </a:pPr>
            <a:r>
              <a:t>Broad context creates broad answers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6364224"/>
            <a:ext cx="658368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900" b="0">
                <a:solidFill>
                  <a:srgbClr val="7D8590"/>
                </a:solidFill>
                <a:latin typeface="Cascadia Code"/>
              </a:defRPr>
            </a:pPr>
            <a:r>
              <a:t>Token Optimization + Context Engineering | 14 / 24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35240" y="6473952"/>
            <a:ext cx="3931920" cy="45720"/>
          </a:xfrm>
          <a:prstGeom prst="rect">
            <a:avLst/>
          </a:prstGeom>
          <a:solidFill>
            <a:srgbClr val="172033"/>
          </a:solidFill>
          <a:ln>
            <a:solidFill>
              <a:srgbClr val="172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35240" y="6473952"/>
            <a:ext cx="2293620" cy="45720"/>
          </a:xfrm>
          <a:prstGeom prst="rect">
            <a:avLst/>
          </a:prstGeom>
          <a:solidFill>
            <a:srgbClr val="3FB950"/>
          </a:solidFill>
          <a:ln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FB950"/>
          </a:solidFill>
          <a:ln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978408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2500" b="1">
                <a:solidFill>
                  <a:srgbClr val="E6EDF3"/>
                </a:solidFill>
                <a:latin typeface="Aptos Display"/>
              </a:defRPr>
            </a:pPr>
            <a:r>
              <a:t>GitHub.com web pattern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411480"/>
            <a:ext cx="15544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 sz="900" b="1">
                <a:solidFill>
                  <a:srgbClr val="3FB950"/>
                </a:solidFill>
                <a:latin typeface="Cascadia Code"/>
              </a:defRPr>
            </a:pPr>
            <a:r>
              <a:t>Technical deep dive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" y="1234440"/>
            <a:ext cx="6400800" cy="4526280"/>
          </a:xfrm>
          <a:prstGeom prst="round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389888"/>
            <a:ext cx="5998464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600" b="1">
                <a:solidFill>
                  <a:srgbClr val="E6EDF3"/>
                </a:solidFill>
                <a:latin typeface="Cascadia Code"/>
              </a:defRPr>
            </a:pPr>
            <a:r>
              <a:t>Recommended pattern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7824" y="1801368"/>
            <a:ext cx="6071616" cy="3849624"/>
          </a:xfrm>
          <a:prstGeom prst="rect">
            <a:avLst/>
          </a:prstGeom>
          <a:noFill/>
        </p:spPr>
        <p:txBody>
          <a:bodyPr wrap="square" lIns="164592" rIns="146304" tIns="109728" bIns="91440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B7C3D0"/>
                </a:solidFill>
                <a:latin typeface="Cascadia Code"/>
              </a:defRPr>
            </a:pPr>
            <a:r>
              <a:t>Ask from the page that already has the relevant context.</a:t>
            </a:r>
          </a:p>
          <a:p>
            <a:pPr>
              <a:spcAft>
                <a:spcPts val="700"/>
              </a:spcAft>
              <a:defRPr sz="1700">
                <a:solidFill>
                  <a:srgbClr val="B7C3D0"/>
                </a:solidFill>
                <a:latin typeface="Cascadia Code"/>
              </a:defRPr>
            </a:pPr>
            <a:r>
              <a:t>Keep threads focused.</a:t>
            </a:r>
          </a:p>
          <a:p>
            <a:pPr>
              <a:spcAft>
                <a:spcPts val="700"/>
              </a:spcAft>
              <a:defRPr sz="1700">
                <a:solidFill>
                  <a:srgbClr val="B7C3D0"/>
                </a:solidFill>
                <a:latin typeface="Cascadia Code"/>
              </a:defRPr>
            </a:pPr>
            <a:r>
              <a:t>Use repository, issue, and PR context deliberately.</a:t>
            </a:r>
          </a:p>
          <a:p>
            <a:pPr>
              <a:spcAft>
                <a:spcPts val="700"/>
              </a:spcAft>
              <a:defRPr sz="1700">
                <a:solidFill>
                  <a:srgbClr val="B7C3D0"/>
                </a:solidFill>
                <a:latin typeface="Cascadia Code"/>
              </a:defRPr>
            </a:pPr>
            <a:r>
              <a:t>Treat generated files as drafts.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52360" y="1234440"/>
            <a:ext cx="3886200" cy="1920240"/>
          </a:xfrm>
          <a:prstGeom prst="roundRect">
            <a:avLst/>
          </a:prstGeom>
          <a:solidFill>
            <a:srgbClr val="172033"/>
          </a:solidFill>
          <a:ln>
            <a:solidFill>
              <a:srgbClr val="172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53528" y="1389888"/>
            <a:ext cx="3483864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500" b="1">
                <a:solidFill>
                  <a:srgbClr val="E6EDF3"/>
                </a:solidFill>
                <a:latin typeface="Cascadia Code"/>
              </a:defRPr>
            </a:pPr>
            <a:r>
              <a:t>Surface fit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16952" y="1801368"/>
            <a:ext cx="3557016" cy="1243584"/>
          </a:xfrm>
          <a:prstGeom prst="rect">
            <a:avLst/>
          </a:prstGeom>
          <a:noFill/>
        </p:spPr>
        <p:txBody>
          <a:bodyPr wrap="square" lIns="164592" rIns="146304" tIns="109728" bIns="91440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B7C3D0"/>
                </a:solidFill>
                <a:latin typeface="Cascadia Code"/>
              </a:defRPr>
            </a:pPr>
            <a:r>
              <a:t>Best when page context matters</a:t>
            </a:r>
          </a:p>
          <a:p>
            <a:pPr>
              <a:spcAft>
                <a:spcPts val="700"/>
              </a:spcAft>
              <a:defRPr sz="1500">
                <a:solidFill>
                  <a:srgbClr val="B7C3D0"/>
                </a:solidFill>
                <a:latin typeface="Cascadia Code"/>
              </a:defRPr>
            </a:pPr>
            <a:r>
              <a:t>Start from the issue, PR, discussion, or repo page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52360" y="3429000"/>
            <a:ext cx="3886200" cy="1874519"/>
          </a:xfrm>
          <a:prstGeom prst="round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53528" y="3584448"/>
            <a:ext cx="3483864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500" b="1">
                <a:solidFill>
                  <a:srgbClr val="E6EDF3"/>
                </a:solidFill>
                <a:latin typeface="Cascadia Code"/>
              </a:defRPr>
            </a:pPr>
            <a:r>
              <a:t>Risk to watch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16952" y="3995928"/>
            <a:ext cx="3557016" cy="1197863"/>
          </a:xfrm>
          <a:prstGeom prst="rect">
            <a:avLst/>
          </a:prstGeom>
          <a:noFill/>
        </p:spPr>
        <p:txBody>
          <a:bodyPr wrap="square" lIns="164592" rIns="146304" tIns="109728" bIns="91440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B7C3D0"/>
                </a:solidFill>
                <a:latin typeface="Cascadia Code"/>
              </a:defRPr>
            </a:pPr>
            <a:r>
              <a:t>Vague scope expands context</a:t>
            </a:r>
          </a:p>
          <a:p>
            <a:pPr>
              <a:spcAft>
                <a:spcPts val="700"/>
              </a:spcAft>
              <a:defRPr sz="1500">
                <a:solidFill>
                  <a:srgbClr val="B7C3D0"/>
                </a:solidFill>
                <a:latin typeface="Cascadia Code"/>
              </a:defRPr>
            </a:pPr>
            <a:r>
              <a:t>Broad context creates broad answers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6364224"/>
            <a:ext cx="658368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900" b="0">
                <a:solidFill>
                  <a:srgbClr val="7D8590"/>
                </a:solidFill>
                <a:latin typeface="Cascadia Code"/>
              </a:defRPr>
            </a:pPr>
            <a:r>
              <a:t>Token Optimization + Context Engineering | 15 / 24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35240" y="6473952"/>
            <a:ext cx="3931920" cy="45720"/>
          </a:xfrm>
          <a:prstGeom prst="rect">
            <a:avLst/>
          </a:prstGeom>
          <a:solidFill>
            <a:srgbClr val="172033"/>
          </a:solidFill>
          <a:ln>
            <a:solidFill>
              <a:srgbClr val="172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35240" y="6473952"/>
            <a:ext cx="2457450" cy="45720"/>
          </a:xfrm>
          <a:prstGeom prst="rect">
            <a:avLst/>
          </a:prstGeom>
          <a:solidFill>
            <a:srgbClr val="3FB950"/>
          </a:solidFill>
          <a:ln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FB950"/>
          </a:solidFill>
          <a:ln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978408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2500" b="1">
                <a:solidFill>
                  <a:srgbClr val="E6EDF3"/>
                </a:solidFill>
                <a:latin typeface="Aptos Display"/>
              </a:defRPr>
            </a:pPr>
            <a:r>
              <a:t>Copilot CLI pattern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411480"/>
            <a:ext cx="15544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 sz="900" b="1">
                <a:solidFill>
                  <a:srgbClr val="3FB950"/>
                </a:solidFill>
                <a:latin typeface="Cascadia Code"/>
              </a:defRPr>
            </a:pPr>
            <a:r>
              <a:t>Technical deep dive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" y="1234440"/>
            <a:ext cx="6400800" cy="4526280"/>
          </a:xfrm>
          <a:prstGeom prst="round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389888"/>
            <a:ext cx="5998464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600" b="1">
                <a:solidFill>
                  <a:srgbClr val="E6EDF3"/>
                </a:solidFill>
                <a:latin typeface="Cascadia Code"/>
              </a:defRPr>
            </a:pPr>
            <a:r>
              <a:t>Recommended pattern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7824" y="1801368"/>
            <a:ext cx="6071616" cy="3849624"/>
          </a:xfrm>
          <a:prstGeom prst="rect">
            <a:avLst/>
          </a:prstGeom>
          <a:noFill/>
        </p:spPr>
        <p:txBody>
          <a:bodyPr wrap="square" lIns="164592" rIns="146304" tIns="109728" bIns="91440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B7C3D0"/>
                </a:solidFill>
                <a:latin typeface="Cascadia Code"/>
              </a:defRPr>
            </a:pPr>
            <a:r>
              <a:t>Use sessions like branches: one task, one focused context.</a:t>
            </a:r>
          </a:p>
          <a:p>
            <a:pPr>
              <a:spcAft>
                <a:spcPts val="700"/>
              </a:spcAft>
              <a:defRPr sz="1700">
                <a:solidFill>
                  <a:srgbClr val="B7C3D0"/>
                </a:solidFill>
                <a:latin typeface="Cascadia Code"/>
              </a:defRPr>
            </a:pPr>
            <a:r>
              <a:t>Filter tool output before it enters the conversation.</a:t>
            </a:r>
          </a:p>
          <a:p>
            <a:pPr>
              <a:spcAft>
                <a:spcPts val="700"/>
              </a:spcAft>
              <a:defRPr sz="1700">
                <a:solidFill>
                  <a:srgbClr val="B7C3D0"/>
                </a:solidFill>
                <a:latin typeface="Cascadia Code"/>
              </a:defRPr>
            </a:pPr>
            <a:r>
              <a:t>Delegate noisy discovery when available.</a:t>
            </a:r>
          </a:p>
          <a:p>
            <a:pPr>
              <a:spcAft>
                <a:spcPts val="700"/>
              </a:spcAft>
              <a:defRPr sz="1700">
                <a:solidFill>
                  <a:srgbClr val="B7C3D0"/>
                </a:solidFill>
                <a:latin typeface="Cascadia Code"/>
              </a:defRPr>
            </a:pPr>
            <a:r>
              <a:t>Use usage/context visibility to teach the token mental model.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52360" y="1234440"/>
            <a:ext cx="3886200" cy="1920240"/>
          </a:xfrm>
          <a:prstGeom prst="roundRect">
            <a:avLst/>
          </a:prstGeom>
          <a:solidFill>
            <a:srgbClr val="172033"/>
          </a:solidFill>
          <a:ln>
            <a:solidFill>
              <a:srgbClr val="172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53528" y="1389888"/>
            <a:ext cx="3483864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500" b="1">
                <a:solidFill>
                  <a:srgbClr val="E6EDF3"/>
                </a:solidFill>
                <a:latin typeface="Cascadia Code"/>
              </a:defRPr>
            </a:pPr>
            <a:r>
              <a:t>Surface fit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16952" y="1801368"/>
            <a:ext cx="3557016" cy="1243584"/>
          </a:xfrm>
          <a:prstGeom prst="rect">
            <a:avLst/>
          </a:prstGeom>
          <a:noFill/>
        </p:spPr>
        <p:txBody>
          <a:bodyPr wrap="square" lIns="164592" rIns="146304" tIns="109728" bIns="91440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B7C3D0"/>
                </a:solidFill>
                <a:latin typeface="Cascadia Code"/>
              </a:defRPr>
            </a:pPr>
            <a:r>
              <a:t>Best for transparent tool control</a:t>
            </a:r>
          </a:p>
          <a:p>
            <a:pPr>
              <a:spcAft>
                <a:spcPts val="700"/>
              </a:spcAft>
              <a:defRPr sz="1500">
                <a:solidFill>
                  <a:srgbClr val="B7C3D0"/>
                </a:solidFill>
                <a:latin typeface="Cascadia Code"/>
              </a:defRPr>
            </a:pPr>
            <a:r>
              <a:t>Filter noisy command output before it enters context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52360" y="3429000"/>
            <a:ext cx="3886200" cy="1874519"/>
          </a:xfrm>
          <a:prstGeom prst="round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53528" y="3584448"/>
            <a:ext cx="3483864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500" b="1">
                <a:solidFill>
                  <a:srgbClr val="E6EDF3"/>
                </a:solidFill>
                <a:latin typeface="Cascadia Code"/>
              </a:defRPr>
            </a:pPr>
            <a:r>
              <a:t>Risk to watch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16952" y="3995928"/>
            <a:ext cx="3557016" cy="1197863"/>
          </a:xfrm>
          <a:prstGeom prst="rect">
            <a:avLst/>
          </a:prstGeom>
          <a:noFill/>
        </p:spPr>
        <p:txBody>
          <a:bodyPr wrap="square" lIns="164592" rIns="146304" tIns="109728" bIns="91440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B7C3D0"/>
                </a:solidFill>
                <a:latin typeface="Cascadia Code"/>
              </a:defRPr>
            </a:pPr>
            <a:r>
              <a:t>Vague scope expands context</a:t>
            </a:r>
          </a:p>
          <a:p>
            <a:pPr>
              <a:spcAft>
                <a:spcPts val="700"/>
              </a:spcAft>
              <a:defRPr sz="1500">
                <a:solidFill>
                  <a:srgbClr val="B7C3D0"/>
                </a:solidFill>
                <a:latin typeface="Cascadia Code"/>
              </a:defRPr>
            </a:pPr>
            <a:r>
              <a:t>Broad context creates broad answers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6364224"/>
            <a:ext cx="658368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900" b="0">
                <a:solidFill>
                  <a:srgbClr val="7D8590"/>
                </a:solidFill>
                <a:latin typeface="Cascadia Code"/>
              </a:defRPr>
            </a:pPr>
            <a:r>
              <a:t>Token Optimization + Context Engineering | 16 / 24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35240" y="6473952"/>
            <a:ext cx="3931920" cy="45720"/>
          </a:xfrm>
          <a:prstGeom prst="rect">
            <a:avLst/>
          </a:prstGeom>
          <a:solidFill>
            <a:srgbClr val="172033"/>
          </a:solidFill>
          <a:ln>
            <a:solidFill>
              <a:srgbClr val="172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35240" y="6473952"/>
            <a:ext cx="2621279" cy="45720"/>
          </a:xfrm>
          <a:prstGeom prst="rect">
            <a:avLst/>
          </a:prstGeom>
          <a:solidFill>
            <a:srgbClr val="3FB950"/>
          </a:solidFill>
          <a:ln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FB950"/>
          </a:solidFill>
          <a:ln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978408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2500" b="1">
                <a:solidFill>
                  <a:srgbClr val="E6EDF3"/>
                </a:solidFill>
                <a:latin typeface="Aptos Display"/>
              </a:defRPr>
            </a:pPr>
            <a:r>
              <a:t>Coding agent pattern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411480"/>
            <a:ext cx="15544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 sz="900" b="1">
                <a:solidFill>
                  <a:srgbClr val="3FB950"/>
                </a:solidFill>
                <a:latin typeface="Cascadia Code"/>
              </a:defRPr>
            </a:pPr>
            <a:r>
              <a:t>Technical deep dive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" y="1234440"/>
            <a:ext cx="6400800" cy="4526280"/>
          </a:xfrm>
          <a:prstGeom prst="round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389888"/>
            <a:ext cx="5998464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600" b="1">
                <a:solidFill>
                  <a:srgbClr val="E6EDF3"/>
                </a:solidFill>
                <a:latin typeface="Cascadia Code"/>
              </a:defRPr>
            </a:pPr>
            <a:r>
              <a:t>Recommended pattern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7824" y="1801368"/>
            <a:ext cx="6071616" cy="3849624"/>
          </a:xfrm>
          <a:prstGeom prst="rect">
            <a:avLst/>
          </a:prstGeom>
          <a:noFill/>
        </p:spPr>
        <p:txBody>
          <a:bodyPr wrap="square" lIns="164592" rIns="146304" tIns="109728" bIns="91440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B7C3D0"/>
                </a:solidFill>
                <a:latin typeface="Cascadia Code"/>
              </a:defRPr>
            </a:pPr>
            <a:r>
              <a:t>Write issues like implementation briefs.</a:t>
            </a:r>
          </a:p>
          <a:p>
            <a:pPr>
              <a:spcAft>
                <a:spcPts val="700"/>
              </a:spcAft>
              <a:defRPr sz="1700">
                <a:solidFill>
                  <a:srgbClr val="B7C3D0"/>
                </a:solidFill>
                <a:latin typeface="Cascadia Code"/>
              </a:defRPr>
            </a:pPr>
            <a:r>
              <a:t>Include acceptance criteria, validation commands, and files to avoid.</a:t>
            </a:r>
          </a:p>
          <a:p>
            <a:pPr>
              <a:spcAft>
                <a:spcPts val="700"/>
              </a:spcAft>
              <a:defRPr sz="1700">
                <a:solidFill>
                  <a:srgbClr val="B7C3D0"/>
                </a:solidFill>
                <a:latin typeface="Cascadia Code"/>
              </a:defRPr>
            </a:pPr>
            <a:r>
              <a:t>Keep tasks small enough to review.</a:t>
            </a:r>
          </a:p>
          <a:p>
            <a:pPr>
              <a:spcAft>
                <a:spcPts val="700"/>
              </a:spcAft>
              <a:defRPr sz="1700">
                <a:solidFill>
                  <a:srgbClr val="B7C3D0"/>
                </a:solidFill>
                <a:latin typeface="Cascadia Code"/>
              </a:defRPr>
            </a:pPr>
            <a:r>
              <a:t>Review the generated PR like any other teammate's work.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52360" y="1234440"/>
            <a:ext cx="3886200" cy="1920240"/>
          </a:xfrm>
          <a:prstGeom prst="roundRect">
            <a:avLst/>
          </a:prstGeom>
          <a:solidFill>
            <a:srgbClr val="172033"/>
          </a:solidFill>
          <a:ln>
            <a:solidFill>
              <a:srgbClr val="172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53528" y="1389888"/>
            <a:ext cx="3483864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500" b="1">
                <a:solidFill>
                  <a:srgbClr val="E6EDF3"/>
                </a:solidFill>
                <a:latin typeface="Cascadia Code"/>
              </a:defRPr>
            </a:pPr>
            <a:r>
              <a:t>Surface fit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16952" y="1801368"/>
            <a:ext cx="3557016" cy="1243584"/>
          </a:xfrm>
          <a:prstGeom prst="rect">
            <a:avLst/>
          </a:prstGeom>
          <a:noFill/>
        </p:spPr>
        <p:txBody>
          <a:bodyPr wrap="square" lIns="164592" rIns="146304" tIns="109728" bIns="91440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B7C3D0"/>
                </a:solidFill>
                <a:latin typeface="Cascadia Code"/>
              </a:defRPr>
            </a:pPr>
            <a:r>
              <a:t>Best for scoped async implementation</a:t>
            </a:r>
          </a:p>
          <a:p>
            <a:pPr>
              <a:spcAft>
                <a:spcPts val="700"/>
              </a:spcAft>
              <a:defRPr sz="1500">
                <a:solidFill>
                  <a:srgbClr val="B7C3D0"/>
                </a:solidFill>
                <a:latin typeface="Cascadia Code"/>
              </a:defRPr>
            </a:pPr>
            <a:r>
              <a:t>Write the task like a small implementation brief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52360" y="3429000"/>
            <a:ext cx="3886200" cy="1874519"/>
          </a:xfrm>
          <a:prstGeom prst="round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53528" y="3584448"/>
            <a:ext cx="3483864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500" b="1">
                <a:solidFill>
                  <a:srgbClr val="E6EDF3"/>
                </a:solidFill>
                <a:latin typeface="Cascadia Code"/>
              </a:defRPr>
            </a:pPr>
            <a:r>
              <a:t>Risk to watch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16952" y="3995928"/>
            <a:ext cx="3557016" cy="1197863"/>
          </a:xfrm>
          <a:prstGeom prst="rect">
            <a:avLst/>
          </a:prstGeom>
          <a:noFill/>
        </p:spPr>
        <p:txBody>
          <a:bodyPr wrap="square" lIns="164592" rIns="146304" tIns="109728" bIns="91440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B7C3D0"/>
                </a:solidFill>
                <a:latin typeface="Cascadia Code"/>
              </a:defRPr>
            </a:pPr>
            <a:r>
              <a:t>Vague scope expands context</a:t>
            </a:r>
          </a:p>
          <a:p>
            <a:pPr>
              <a:spcAft>
                <a:spcPts val="700"/>
              </a:spcAft>
              <a:defRPr sz="1500">
                <a:solidFill>
                  <a:srgbClr val="B7C3D0"/>
                </a:solidFill>
                <a:latin typeface="Cascadia Code"/>
              </a:defRPr>
            </a:pPr>
            <a:r>
              <a:t>Broad context creates broad answers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6364224"/>
            <a:ext cx="658368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900" b="0">
                <a:solidFill>
                  <a:srgbClr val="7D8590"/>
                </a:solidFill>
                <a:latin typeface="Cascadia Code"/>
              </a:defRPr>
            </a:pPr>
            <a:r>
              <a:t>Token Optimization + Context Engineering | 17 / 24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35240" y="6473952"/>
            <a:ext cx="3931920" cy="45720"/>
          </a:xfrm>
          <a:prstGeom prst="rect">
            <a:avLst/>
          </a:prstGeom>
          <a:solidFill>
            <a:srgbClr val="172033"/>
          </a:solidFill>
          <a:ln>
            <a:solidFill>
              <a:srgbClr val="172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35240" y="6473952"/>
            <a:ext cx="2785110" cy="45720"/>
          </a:xfrm>
          <a:prstGeom prst="rect">
            <a:avLst/>
          </a:prstGeom>
          <a:solidFill>
            <a:srgbClr val="3FB950"/>
          </a:solidFill>
          <a:ln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FB950"/>
          </a:solidFill>
          <a:ln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978408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2500" b="1">
                <a:solidFill>
                  <a:srgbClr val="E6EDF3"/>
                </a:solidFill>
                <a:latin typeface="Aptos Display"/>
              </a:defRPr>
            </a:pPr>
            <a:r>
              <a:t>Code review pattern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411480"/>
            <a:ext cx="15544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 sz="900" b="1">
                <a:solidFill>
                  <a:srgbClr val="3FB950"/>
                </a:solidFill>
                <a:latin typeface="Cascadia Code"/>
              </a:defRPr>
            </a:pPr>
            <a:r>
              <a:t>Technical deep dive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" y="1234440"/>
            <a:ext cx="6400800" cy="4526280"/>
          </a:xfrm>
          <a:prstGeom prst="round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389888"/>
            <a:ext cx="5998464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600" b="1">
                <a:solidFill>
                  <a:srgbClr val="E6EDF3"/>
                </a:solidFill>
                <a:latin typeface="Cascadia Code"/>
              </a:defRPr>
            </a:pPr>
            <a:r>
              <a:t>Recommended pattern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7824" y="1801368"/>
            <a:ext cx="6071616" cy="3849624"/>
          </a:xfrm>
          <a:prstGeom prst="rect">
            <a:avLst/>
          </a:prstGeom>
          <a:noFill/>
        </p:spPr>
        <p:txBody>
          <a:bodyPr wrap="square" lIns="164592" rIns="146304" tIns="109728" bIns="91440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B7C3D0"/>
                </a:solidFill>
                <a:latin typeface="Cascadia Code"/>
              </a:defRPr>
            </a:pPr>
            <a:r>
              <a:t>Keep PRs small.</a:t>
            </a:r>
          </a:p>
          <a:p>
            <a:pPr>
              <a:spcAft>
                <a:spcPts val="700"/>
              </a:spcAft>
              <a:defRPr sz="1700">
                <a:solidFill>
                  <a:srgbClr val="B7C3D0"/>
                </a:solidFill>
                <a:latin typeface="Cascadia Code"/>
              </a:defRPr>
            </a:pPr>
            <a:r>
              <a:t>Tune repo and path-specific review instructions.</a:t>
            </a:r>
          </a:p>
          <a:p>
            <a:pPr>
              <a:spcAft>
                <a:spcPts val="700"/>
              </a:spcAft>
              <a:defRPr sz="1700">
                <a:solidFill>
                  <a:srgbClr val="B7C3D0"/>
                </a:solidFill>
                <a:latin typeface="Cascadia Code"/>
              </a:defRPr>
            </a:pPr>
            <a:r>
              <a:t>Watch automatic review policy and quota implications.</a:t>
            </a:r>
          </a:p>
          <a:p>
            <a:pPr>
              <a:spcAft>
                <a:spcPts val="700"/>
              </a:spcAft>
              <a:defRPr sz="1700">
                <a:solidFill>
                  <a:srgbClr val="B7C3D0"/>
                </a:solidFill>
                <a:latin typeface="Cascadia Code"/>
              </a:defRPr>
            </a:pPr>
            <a:r>
              <a:t>Validate Copilot findings; review comments are not approvals.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52360" y="1234440"/>
            <a:ext cx="3886200" cy="1920240"/>
          </a:xfrm>
          <a:prstGeom prst="roundRect">
            <a:avLst/>
          </a:prstGeom>
          <a:solidFill>
            <a:srgbClr val="172033"/>
          </a:solidFill>
          <a:ln>
            <a:solidFill>
              <a:srgbClr val="172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53528" y="1389888"/>
            <a:ext cx="3483864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500" b="1">
                <a:solidFill>
                  <a:srgbClr val="E6EDF3"/>
                </a:solidFill>
                <a:latin typeface="Cascadia Code"/>
              </a:defRPr>
            </a:pPr>
            <a:r>
              <a:t>Surface fit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16952" y="1801368"/>
            <a:ext cx="3557016" cy="1243584"/>
          </a:xfrm>
          <a:prstGeom prst="rect">
            <a:avLst/>
          </a:prstGeom>
          <a:noFill/>
        </p:spPr>
        <p:txBody>
          <a:bodyPr wrap="square" lIns="164592" rIns="146304" tIns="109728" bIns="91440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B7C3D0"/>
                </a:solidFill>
                <a:latin typeface="Cascadia Code"/>
              </a:defRPr>
            </a:pPr>
            <a:r>
              <a:t>Best for PR-shaped feedback</a:t>
            </a:r>
          </a:p>
          <a:p>
            <a:pPr>
              <a:spcAft>
                <a:spcPts val="700"/>
              </a:spcAft>
              <a:defRPr sz="1500">
                <a:solidFill>
                  <a:srgbClr val="B7C3D0"/>
                </a:solidFill>
                <a:latin typeface="Cascadia Code"/>
              </a:defRPr>
            </a:pPr>
            <a:r>
              <a:t>Tune PR size and review instructions first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52360" y="3429000"/>
            <a:ext cx="3886200" cy="1874519"/>
          </a:xfrm>
          <a:prstGeom prst="round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53528" y="3584448"/>
            <a:ext cx="3483864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500" b="1">
                <a:solidFill>
                  <a:srgbClr val="E6EDF3"/>
                </a:solidFill>
                <a:latin typeface="Cascadia Code"/>
              </a:defRPr>
            </a:pPr>
            <a:r>
              <a:t>Risk to watch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16952" y="3995928"/>
            <a:ext cx="3557016" cy="1197863"/>
          </a:xfrm>
          <a:prstGeom prst="rect">
            <a:avLst/>
          </a:prstGeom>
          <a:noFill/>
        </p:spPr>
        <p:txBody>
          <a:bodyPr wrap="square" lIns="164592" rIns="146304" tIns="109728" bIns="91440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B7C3D0"/>
                </a:solidFill>
                <a:latin typeface="Cascadia Code"/>
              </a:defRPr>
            </a:pPr>
            <a:r>
              <a:t>Vague scope expands context</a:t>
            </a:r>
          </a:p>
          <a:p>
            <a:pPr>
              <a:spcAft>
                <a:spcPts val="700"/>
              </a:spcAft>
              <a:defRPr sz="1500">
                <a:solidFill>
                  <a:srgbClr val="B7C3D0"/>
                </a:solidFill>
                <a:latin typeface="Cascadia Code"/>
              </a:defRPr>
            </a:pPr>
            <a:r>
              <a:t>Broad context creates broad answers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6364224"/>
            <a:ext cx="658368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900" b="0">
                <a:solidFill>
                  <a:srgbClr val="7D8590"/>
                </a:solidFill>
                <a:latin typeface="Cascadia Code"/>
              </a:defRPr>
            </a:pPr>
            <a:r>
              <a:t>Token Optimization + Context Engineering | 18 / 24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35240" y="6473952"/>
            <a:ext cx="3931920" cy="45720"/>
          </a:xfrm>
          <a:prstGeom prst="rect">
            <a:avLst/>
          </a:prstGeom>
          <a:solidFill>
            <a:srgbClr val="172033"/>
          </a:solidFill>
          <a:ln>
            <a:solidFill>
              <a:srgbClr val="172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35240" y="6473952"/>
            <a:ext cx="2948939" cy="45720"/>
          </a:xfrm>
          <a:prstGeom prst="rect">
            <a:avLst/>
          </a:prstGeom>
          <a:solidFill>
            <a:srgbClr val="3FB950"/>
          </a:solidFill>
          <a:ln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FB950"/>
          </a:solidFill>
          <a:ln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978408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2500" b="1">
                <a:solidFill>
                  <a:srgbClr val="E6EDF3"/>
                </a:solidFill>
                <a:latin typeface="Aptos Display"/>
              </a:defRPr>
            </a:pPr>
            <a:r>
              <a:t>Context inventory exercise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411480"/>
            <a:ext cx="15544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 sz="900" b="1">
                <a:solidFill>
                  <a:srgbClr val="3FB950"/>
                </a:solidFill>
                <a:latin typeface="Cascadia Code"/>
              </a:defRPr>
            </a:pPr>
            <a:r>
              <a:t>Technical deep dive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060704"/>
            <a:ext cx="2743200" cy="3017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300" b="1">
                <a:solidFill>
                  <a:srgbClr val="3FB950"/>
                </a:solidFill>
                <a:latin typeface="Cascadia Code"/>
              </a:defRPr>
            </a:pPr>
            <a:r>
              <a:t>Hands-on exercise</a:t>
            </a:r>
          </a:p>
        </p:txBody>
      </p:sp>
      <p:sp>
        <p:nvSpPr>
          <p:cNvPr id="6" name="Oval 5"/>
          <p:cNvSpPr/>
          <p:nvPr/>
        </p:nvSpPr>
        <p:spPr>
          <a:xfrm>
            <a:off x="713232" y="1691640"/>
            <a:ext cx="502920" cy="502920"/>
          </a:xfrm>
          <a:prstGeom prst="ellipse">
            <a:avLst/>
          </a:prstGeom>
          <a:solidFill>
            <a:srgbClr val="3FB950"/>
          </a:solidFill>
          <a:ln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792224"/>
            <a:ext cx="502920" cy="2011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scadia Code"/>
              </a:defRPr>
            </a:pPr>
            <a:r>
              <a:t>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71600" y="1673352"/>
            <a:ext cx="4480560" cy="1078992"/>
          </a:xfrm>
          <a:prstGeom prst="round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572768" y="1828800"/>
            <a:ext cx="4078224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500" b="1">
                <a:solidFill>
                  <a:srgbClr val="E6EDF3"/>
                </a:solidFill>
                <a:latin typeface="Cascadia Code"/>
              </a:defRPr>
            </a:pPr>
            <a:r>
              <a:t>List every context source.</a:t>
            </a:r>
          </a:p>
        </p:txBody>
      </p:sp>
      <p:sp>
        <p:nvSpPr>
          <p:cNvPr id="10" name="Oval 9"/>
          <p:cNvSpPr/>
          <p:nvPr/>
        </p:nvSpPr>
        <p:spPr>
          <a:xfrm>
            <a:off x="6153912" y="1691640"/>
            <a:ext cx="502920" cy="502920"/>
          </a:xfrm>
          <a:prstGeom prst="ellipse">
            <a:avLst/>
          </a:prstGeom>
          <a:solidFill>
            <a:srgbClr val="FFAB70"/>
          </a:solidFill>
          <a:ln>
            <a:solidFill>
              <a:srgbClr val="FFAB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53912" y="1792224"/>
            <a:ext cx="502920" cy="2011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scadia Code"/>
              </a:defRPr>
            </a:pPr>
            <a:r>
              <a:t>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12280" y="1673352"/>
            <a:ext cx="4480560" cy="1078992"/>
          </a:xfrm>
          <a:prstGeom prst="round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13448" y="1828800"/>
            <a:ext cx="4078224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500" b="1">
                <a:solidFill>
                  <a:srgbClr val="E6EDF3"/>
                </a:solidFill>
                <a:latin typeface="Cascadia Code"/>
              </a:defRPr>
            </a:pPr>
            <a:r>
              <a:t>Mark required, useful, stale, redundant, sensitive, or unknown.</a:t>
            </a:r>
          </a:p>
        </p:txBody>
      </p:sp>
      <p:sp>
        <p:nvSpPr>
          <p:cNvPr id="14" name="Oval 13"/>
          <p:cNvSpPr/>
          <p:nvPr/>
        </p:nvSpPr>
        <p:spPr>
          <a:xfrm>
            <a:off x="713232" y="3566160"/>
            <a:ext cx="502920" cy="502920"/>
          </a:xfrm>
          <a:prstGeom prst="ellipse">
            <a:avLst/>
          </a:prstGeom>
          <a:solidFill>
            <a:srgbClr val="3FB950"/>
          </a:solidFill>
          <a:ln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3232" y="3666744"/>
            <a:ext cx="502920" cy="2011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scadia Code"/>
              </a:defRPr>
            </a:pPr>
            <a:r>
              <a:t>3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371600" y="3547872"/>
            <a:ext cx="4480560" cy="1078992"/>
          </a:xfrm>
          <a:prstGeom prst="round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572768" y="3703320"/>
            <a:ext cx="4078224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500" b="1">
                <a:solidFill>
                  <a:srgbClr val="E6EDF3"/>
                </a:solidFill>
                <a:latin typeface="Cascadia Code"/>
              </a:defRPr>
            </a:pPr>
            <a:r>
              <a:t>Decide what stays, what moves, what gets summarized, and what gets removed.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3232" y="5486400"/>
            <a:ext cx="10652760" cy="438912"/>
          </a:xfrm>
          <a:prstGeom prst="roundRect">
            <a:avLst/>
          </a:prstGeom>
          <a:solidFill>
            <a:srgbClr val="172033"/>
          </a:solidFill>
          <a:ln>
            <a:solidFill>
              <a:srgbClr val="172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5641848"/>
            <a:ext cx="10250424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200" b="1">
                <a:solidFill>
                  <a:srgbClr val="E6EDF3"/>
                </a:solidFill>
                <a:latin typeface="Cascadia Code"/>
              </a:defRPr>
            </a:pPr>
            <a:r>
              <a:t>Output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7824" y="6053328"/>
            <a:ext cx="10323576" cy="-237744"/>
          </a:xfrm>
          <a:prstGeom prst="rect">
            <a:avLst/>
          </a:prstGeom>
          <a:noFill/>
        </p:spPr>
        <p:txBody>
          <a:bodyPr wrap="square" lIns="164592" rIns="146304" tIns="109728" bIns="91440">
            <a:spAutoFit/>
          </a:bodyPr>
          <a:lstStyle/>
          <a:p>
            <a:pPr>
              <a:spcAft>
                <a:spcPts val="700"/>
              </a:spcAft>
              <a:defRPr sz="1100">
                <a:solidFill>
                  <a:srgbClr val="B7C3D0"/>
                </a:solidFill>
                <a:latin typeface="Cascadia Code"/>
              </a:defRPr>
            </a:pPr>
            <a:r>
              <a:t>A smaller, safer context plan students can reuse after the workshop.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6364224"/>
            <a:ext cx="658368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900" b="0">
                <a:solidFill>
                  <a:srgbClr val="7D8590"/>
                </a:solidFill>
                <a:latin typeface="Cascadia Code"/>
              </a:defRPr>
            </a:pPr>
            <a:r>
              <a:t>Token Optimization + Context Engineering | 19 / 24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635240" y="6473952"/>
            <a:ext cx="3931920" cy="45720"/>
          </a:xfrm>
          <a:prstGeom prst="rect">
            <a:avLst/>
          </a:prstGeom>
          <a:solidFill>
            <a:srgbClr val="172033"/>
          </a:solidFill>
          <a:ln>
            <a:solidFill>
              <a:srgbClr val="172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635240" y="6473952"/>
            <a:ext cx="3112769" cy="45720"/>
          </a:xfrm>
          <a:prstGeom prst="rect">
            <a:avLst/>
          </a:prstGeom>
          <a:solidFill>
            <a:srgbClr val="3FB950"/>
          </a:solidFill>
          <a:ln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FB950"/>
          </a:solidFill>
          <a:ln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978408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2500" b="1">
                <a:solidFill>
                  <a:srgbClr val="E6EDF3"/>
                </a:solidFill>
                <a:latin typeface="Aptos Display"/>
              </a:defRPr>
            </a:pPr>
            <a:r>
              <a:t>Instruction diet exercise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411480"/>
            <a:ext cx="15544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 sz="900" b="1">
                <a:solidFill>
                  <a:srgbClr val="3FB950"/>
                </a:solidFill>
                <a:latin typeface="Cascadia Code"/>
              </a:defRPr>
            </a:pPr>
            <a:r>
              <a:t>Technical deep dive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060704"/>
            <a:ext cx="2743200" cy="3017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300" b="1">
                <a:solidFill>
                  <a:srgbClr val="3FB950"/>
                </a:solidFill>
                <a:latin typeface="Cascadia Code"/>
              </a:defRPr>
            </a:pPr>
            <a:r>
              <a:t>Hands-on exercise</a:t>
            </a:r>
          </a:p>
        </p:txBody>
      </p:sp>
      <p:sp>
        <p:nvSpPr>
          <p:cNvPr id="6" name="Oval 5"/>
          <p:cNvSpPr/>
          <p:nvPr/>
        </p:nvSpPr>
        <p:spPr>
          <a:xfrm>
            <a:off x="713232" y="1691640"/>
            <a:ext cx="502920" cy="502920"/>
          </a:xfrm>
          <a:prstGeom prst="ellipse">
            <a:avLst/>
          </a:prstGeom>
          <a:solidFill>
            <a:srgbClr val="3FB950"/>
          </a:solidFill>
          <a:ln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792224"/>
            <a:ext cx="502920" cy="2011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scadia Code"/>
              </a:defRPr>
            </a:pPr>
            <a:r>
              <a:t>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71600" y="1673352"/>
            <a:ext cx="4480560" cy="1078992"/>
          </a:xfrm>
          <a:prstGeom prst="round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572768" y="1828800"/>
            <a:ext cx="4078224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500" b="1">
                <a:solidFill>
                  <a:srgbClr val="E6EDF3"/>
                </a:solidFill>
                <a:latin typeface="Cascadia Code"/>
              </a:defRPr>
            </a:pPr>
            <a:r>
              <a:t>Keep stable rules always-on.</a:t>
            </a:r>
          </a:p>
        </p:txBody>
      </p:sp>
      <p:sp>
        <p:nvSpPr>
          <p:cNvPr id="10" name="Oval 9"/>
          <p:cNvSpPr/>
          <p:nvPr/>
        </p:nvSpPr>
        <p:spPr>
          <a:xfrm>
            <a:off x="6153912" y="1691640"/>
            <a:ext cx="502920" cy="502920"/>
          </a:xfrm>
          <a:prstGeom prst="ellipse">
            <a:avLst/>
          </a:prstGeom>
          <a:solidFill>
            <a:srgbClr val="FFAB70"/>
          </a:solidFill>
          <a:ln>
            <a:solidFill>
              <a:srgbClr val="FFAB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53912" y="1792224"/>
            <a:ext cx="502920" cy="2011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scadia Code"/>
              </a:defRPr>
            </a:pPr>
            <a:r>
              <a:t>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12280" y="1673352"/>
            <a:ext cx="4480560" cy="1078992"/>
          </a:xfrm>
          <a:prstGeom prst="round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13448" y="1828800"/>
            <a:ext cx="4078224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500" b="1">
                <a:solidFill>
                  <a:srgbClr val="E6EDF3"/>
                </a:solidFill>
                <a:latin typeface="Cascadia Code"/>
              </a:defRPr>
            </a:pPr>
            <a:r>
              <a:t>Move targeted rules to path-specific instructions.</a:t>
            </a:r>
          </a:p>
        </p:txBody>
      </p:sp>
      <p:sp>
        <p:nvSpPr>
          <p:cNvPr id="14" name="Oval 13"/>
          <p:cNvSpPr/>
          <p:nvPr/>
        </p:nvSpPr>
        <p:spPr>
          <a:xfrm>
            <a:off x="713232" y="3566160"/>
            <a:ext cx="502920" cy="502920"/>
          </a:xfrm>
          <a:prstGeom prst="ellipse">
            <a:avLst/>
          </a:prstGeom>
          <a:solidFill>
            <a:srgbClr val="3FB950"/>
          </a:solidFill>
          <a:ln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3232" y="3666744"/>
            <a:ext cx="502920" cy="2011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scadia Code"/>
              </a:defRPr>
            </a:pPr>
            <a:r>
              <a:t>3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371600" y="3547872"/>
            <a:ext cx="4480560" cy="1078992"/>
          </a:xfrm>
          <a:prstGeom prst="round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572768" y="3703320"/>
            <a:ext cx="4078224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500" b="1">
                <a:solidFill>
                  <a:srgbClr val="E6EDF3"/>
                </a:solidFill>
                <a:latin typeface="Cascadia Code"/>
              </a:defRPr>
            </a:pPr>
            <a:r>
              <a:t>Move repeated workflows to prompts, skills, or agents.</a:t>
            </a:r>
          </a:p>
        </p:txBody>
      </p:sp>
      <p:sp>
        <p:nvSpPr>
          <p:cNvPr id="18" name="Oval 17"/>
          <p:cNvSpPr/>
          <p:nvPr/>
        </p:nvSpPr>
        <p:spPr>
          <a:xfrm>
            <a:off x="6153912" y="3566160"/>
            <a:ext cx="502920" cy="502920"/>
          </a:xfrm>
          <a:prstGeom prst="ellipse">
            <a:avLst/>
          </a:prstGeom>
          <a:solidFill>
            <a:srgbClr val="FFAB70"/>
          </a:solidFill>
          <a:ln>
            <a:solidFill>
              <a:srgbClr val="FFAB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53912" y="3666744"/>
            <a:ext cx="502920" cy="2011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scadia Code"/>
              </a:defRPr>
            </a:pPr>
            <a:r>
              <a:t>4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12280" y="3547872"/>
            <a:ext cx="4480560" cy="1078992"/>
          </a:xfrm>
          <a:prstGeom prst="round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13448" y="3703320"/>
            <a:ext cx="4078224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500" b="1">
                <a:solidFill>
                  <a:srgbClr val="E6EDF3"/>
                </a:solidFill>
                <a:latin typeface="Cascadia Code"/>
              </a:defRPr>
            </a:pPr>
            <a:r>
              <a:t>Link long docs instead of copying them into instructions.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13232" y="5486400"/>
            <a:ext cx="10652760" cy="438912"/>
          </a:xfrm>
          <a:prstGeom prst="roundRect">
            <a:avLst/>
          </a:prstGeom>
          <a:solidFill>
            <a:srgbClr val="172033"/>
          </a:solidFill>
          <a:ln>
            <a:solidFill>
              <a:srgbClr val="172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641848"/>
            <a:ext cx="10250424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200" b="1">
                <a:solidFill>
                  <a:srgbClr val="E6EDF3"/>
                </a:solidFill>
                <a:latin typeface="Cascadia Code"/>
              </a:defRPr>
            </a:pPr>
            <a:r>
              <a:t>Output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7824" y="6053328"/>
            <a:ext cx="10323576" cy="-237744"/>
          </a:xfrm>
          <a:prstGeom prst="rect">
            <a:avLst/>
          </a:prstGeom>
          <a:noFill/>
        </p:spPr>
        <p:txBody>
          <a:bodyPr wrap="square" lIns="164592" rIns="146304" tIns="109728" bIns="91440">
            <a:spAutoFit/>
          </a:bodyPr>
          <a:lstStyle/>
          <a:p>
            <a:pPr>
              <a:spcAft>
                <a:spcPts val="700"/>
              </a:spcAft>
              <a:defRPr sz="1100">
                <a:solidFill>
                  <a:srgbClr val="B7C3D0"/>
                </a:solidFill>
                <a:latin typeface="Cascadia Code"/>
              </a:defRPr>
            </a:pPr>
            <a:r>
              <a:t>A smaller, safer context plan students can reuse after the workshop.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6364224"/>
            <a:ext cx="658368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900" b="0">
                <a:solidFill>
                  <a:srgbClr val="7D8590"/>
                </a:solidFill>
                <a:latin typeface="Cascadia Code"/>
              </a:defRPr>
            </a:pPr>
            <a:r>
              <a:t>Token Optimization + Context Engineering | 20 / 24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635240" y="6473952"/>
            <a:ext cx="3931920" cy="45720"/>
          </a:xfrm>
          <a:prstGeom prst="rect">
            <a:avLst/>
          </a:prstGeom>
          <a:solidFill>
            <a:srgbClr val="172033"/>
          </a:solidFill>
          <a:ln>
            <a:solidFill>
              <a:srgbClr val="172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635240" y="6473952"/>
            <a:ext cx="3276600" cy="45720"/>
          </a:xfrm>
          <a:prstGeom prst="rect">
            <a:avLst/>
          </a:prstGeom>
          <a:solidFill>
            <a:srgbClr val="3FB950"/>
          </a:solidFill>
          <a:ln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FB950"/>
          </a:solidFill>
          <a:ln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978408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2500" b="1">
                <a:solidFill>
                  <a:srgbClr val="E6EDF3"/>
                </a:solidFill>
                <a:latin typeface="Aptos Display"/>
              </a:defRPr>
            </a:pPr>
            <a:r>
              <a:t>Governance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411480"/>
            <a:ext cx="15544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 sz="900" b="1">
                <a:solidFill>
                  <a:srgbClr val="3FB950"/>
                </a:solidFill>
                <a:latin typeface="Cascadia Code"/>
              </a:defRPr>
            </a:pPr>
            <a:r>
              <a:t>Technical deep dive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9808" y="1234440"/>
            <a:ext cx="4892040" cy="804672"/>
          </a:xfrm>
          <a:prstGeom prst="round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50976" y="1389888"/>
            <a:ext cx="4489703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500" b="1">
                <a:solidFill>
                  <a:srgbClr val="E6EDF3"/>
                </a:solidFill>
                <a:latin typeface="Cascadia Code"/>
              </a:defRPr>
            </a:pPr>
            <a:r>
              <a:t>Content exclusion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99048" y="1234440"/>
            <a:ext cx="4892040" cy="804672"/>
          </a:xfrm>
          <a:prstGeom prst="round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00216" y="1389888"/>
            <a:ext cx="4489703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500" b="1">
                <a:solidFill>
                  <a:srgbClr val="E6EDF3"/>
                </a:solidFill>
                <a:latin typeface="Cascadia Code"/>
              </a:defRPr>
            </a:pPr>
            <a:r>
              <a:t>Model access policies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2377440"/>
            <a:ext cx="4892040" cy="804672"/>
          </a:xfrm>
          <a:prstGeom prst="round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0976" y="2532888"/>
            <a:ext cx="4489703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500" b="1">
                <a:solidFill>
                  <a:srgbClr val="E6EDF3"/>
                </a:solidFill>
                <a:latin typeface="Cascadia Code"/>
              </a:defRPr>
            </a:pPr>
            <a:r>
              <a:t>Code review settings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99048" y="2377440"/>
            <a:ext cx="4892040" cy="804672"/>
          </a:xfrm>
          <a:prstGeom prst="round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0216" y="2532888"/>
            <a:ext cx="4489703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500" b="1">
                <a:solidFill>
                  <a:srgbClr val="E6EDF3"/>
                </a:solidFill>
                <a:latin typeface="Cascadia Code"/>
              </a:defRPr>
            </a:pPr>
            <a:r>
              <a:t>Budgets and alerts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8" y="3520440"/>
            <a:ext cx="4892040" cy="804672"/>
          </a:xfrm>
          <a:prstGeom prst="round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0976" y="3675888"/>
            <a:ext cx="4489703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500" b="1">
                <a:solidFill>
                  <a:srgbClr val="E6EDF3"/>
                </a:solidFill>
                <a:latin typeface="Cascadia Code"/>
              </a:defRPr>
            </a:pPr>
            <a:r>
              <a:t>Telemetry and dashboard ownership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364224"/>
            <a:ext cx="658368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900" b="0">
                <a:solidFill>
                  <a:srgbClr val="7D8590"/>
                </a:solidFill>
                <a:latin typeface="Cascadia Code"/>
              </a:defRPr>
            </a:pPr>
            <a:r>
              <a:t>Token Optimization + Context Engineering | 21 / 24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635240" y="6473952"/>
            <a:ext cx="3931920" cy="45720"/>
          </a:xfrm>
          <a:prstGeom prst="rect">
            <a:avLst/>
          </a:prstGeom>
          <a:solidFill>
            <a:srgbClr val="172033"/>
          </a:solidFill>
          <a:ln>
            <a:solidFill>
              <a:srgbClr val="172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635240" y="6473952"/>
            <a:ext cx="3440429" cy="45720"/>
          </a:xfrm>
          <a:prstGeom prst="rect">
            <a:avLst/>
          </a:prstGeom>
          <a:solidFill>
            <a:srgbClr val="3FB950"/>
          </a:solidFill>
          <a:ln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FB950"/>
          </a:solidFill>
          <a:ln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978408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2500" b="1">
                <a:solidFill>
                  <a:srgbClr val="E6EDF3"/>
                </a:solidFill>
                <a:latin typeface="Aptos Display"/>
              </a:defRPr>
            </a:pPr>
            <a:r>
              <a:t>Delivery tracks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411480"/>
            <a:ext cx="15544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 sz="900" b="1">
                <a:solidFill>
                  <a:srgbClr val="3FB950"/>
                </a:solidFill>
                <a:latin typeface="Cascadia Code"/>
              </a:defRPr>
            </a:pPr>
            <a:r>
              <a:t>Technical deep dive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" y="1600200"/>
            <a:ext cx="3246120" cy="3063240"/>
          </a:xfrm>
          <a:prstGeom prst="round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55648"/>
            <a:ext cx="2843784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700" b="1">
                <a:solidFill>
                  <a:srgbClr val="E6EDF3"/>
                </a:solidFill>
                <a:latin typeface="Cascadia Code"/>
              </a:defRPr>
            </a:pPr>
            <a:r>
              <a:t>Awareness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7824" y="2167128"/>
            <a:ext cx="2916936" cy="2386584"/>
          </a:xfrm>
          <a:prstGeom prst="rect">
            <a:avLst/>
          </a:prstGeom>
          <a:noFill/>
        </p:spPr>
        <p:txBody>
          <a:bodyPr wrap="square" lIns="164592" rIns="146304" tIns="109728" bIns="91440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B7C3D0"/>
                </a:solidFill>
                <a:latin typeface="Cascadia Code"/>
              </a:defRPr>
            </a:pPr>
            <a:r>
              <a:t>1 hour: mental model, surface view, demo, checklist</a:t>
            </a:r>
          </a:p>
        </p:txBody>
      </p:sp>
      <p:sp>
        <p:nvSpPr>
          <p:cNvPr id="8" name="Rectangle 7"/>
          <p:cNvSpPr/>
          <p:nvPr/>
        </p:nvSpPr>
        <p:spPr>
          <a:xfrm>
            <a:off x="713232" y="4828032"/>
            <a:ext cx="3246120" cy="128016"/>
          </a:xfrm>
          <a:prstGeom prst="rect">
            <a:avLst/>
          </a:prstGeom>
          <a:solidFill>
            <a:srgbClr val="3FB950"/>
          </a:solidFill>
          <a:ln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462272" y="1600200"/>
            <a:ext cx="3246120" cy="3063240"/>
          </a:xfrm>
          <a:prstGeom prst="round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1755648"/>
            <a:ext cx="2843784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700" b="1">
                <a:solidFill>
                  <a:srgbClr val="E6EDF3"/>
                </a:solidFill>
                <a:latin typeface="Cascadia Code"/>
              </a:defRPr>
            </a:pPr>
            <a:r>
              <a:t>Practitioner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26864" y="2167128"/>
            <a:ext cx="2916936" cy="2386584"/>
          </a:xfrm>
          <a:prstGeom prst="rect">
            <a:avLst/>
          </a:prstGeom>
          <a:noFill/>
        </p:spPr>
        <p:txBody>
          <a:bodyPr wrap="square" lIns="164592" rIns="146304" tIns="109728" bIns="91440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B7C3D0"/>
                </a:solidFill>
                <a:latin typeface="Cascadia Code"/>
              </a:defRPr>
            </a:pPr>
            <a:r>
              <a:t>2 hours: practitioner lab and prompt/context refactor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62272" y="4828032"/>
            <a:ext cx="3246120" cy="128016"/>
          </a:xfrm>
          <a:prstGeom prst="rect">
            <a:avLst/>
          </a:prstGeom>
          <a:solidFill>
            <a:srgbClr val="3FB950"/>
          </a:solidFill>
          <a:ln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211311" y="1600200"/>
            <a:ext cx="3246120" cy="3063240"/>
          </a:xfrm>
          <a:prstGeom prst="round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0" y="1755648"/>
            <a:ext cx="2843784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700" b="1">
                <a:solidFill>
                  <a:srgbClr val="E6EDF3"/>
                </a:solidFill>
                <a:latin typeface="Cascadia Code"/>
              </a:defRPr>
            </a:pPr>
            <a:r>
              <a:t>Applied review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75903" y="2167128"/>
            <a:ext cx="2916936" cy="2386584"/>
          </a:xfrm>
          <a:prstGeom prst="rect">
            <a:avLst/>
          </a:prstGeom>
          <a:noFill/>
        </p:spPr>
        <p:txBody>
          <a:bodyPr wrap="square" lIns="164592" rIns="146304" tIns="109728" bIns="91440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B7C3D0"/>
                </a:solidFill>
                <a:latin typeface="Cascadia Code"/>
              </a:defRPr>
            </a:pPr>
            <a:r>
              <a:t>4 hours: customer environment review and team operating model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11311" y="4828032"/>
            <a:ext cx="3246120" cy="128016"/>
          </a:xfrm>
          <a:prstGeom prst="rect">
            <a:avLst/>
          </a:prstGeom>
          <a:solidFill>
            <a:srgbClr val="FFAB70"/>
          </a:solidFill>
          <a:ln>
            <a:solidFill>
              <a:srgbClr val="FFAB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5486400"/>
            <a:ext cx="987552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400" b="0">
                <a:solidFill>
                  <a:srgbClr val="B7C3D0"/>
                </a:solidFill>
                <a:latin typeface="Cascadia Code"/>
              </a:defRPr>
            </a:pPr>
            <a:r>
              <a:t>Use preflight before the 4-hour version, especially when students review their own repositories.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6364224"/>
            <a:ext cx="658368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900" b="0">
                <a:solidFill>
                  <a:srgbClr val="7D8590"/>
                </a:solidFill>
                <a:latin typeface="Cascadia Code"/>
              </a:defRPr>
            </a:pPr>
            <a:r>
              <a:t>Token Optimization + Context Engineering | 22 / 24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635240" y="6473952"/>
            <a:ext cx="3931920" cy="45720"/>
          </a:xfrm>
          <a:prstGeom prst="rect">
            <a:avLst/>
          </a:prstGeom>
          <a:solidFill>
            <a:srgbClr val="172033"/>
          </a:solidFill>
          <a:ln>
            <a:solidFill>
              <a:srgbClr val="172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635240" y="6473952"/>
            <a:ext cx="3604260" cy="45720"/>
          </a:xfrm>
          <a:prstGeom prst="rect">
            <a:avLst/>
          </a:prstGeom>
          <a:solidFill>
            <a:srgbClr val="3FB950"/>
          </a:solidFill>
          <a:ln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FB950"/>
          </a:solidFill>
          <a:ln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978408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2500" b="1">
                <a:solidFill>
                  <a:srgbClr val="E6EDF3"/>
                </a:solidFill>
                <a:latin typeface="Aptos Display"/>
              </a:defRPr>
            </a:pPr>
            <a:r>
              <a:t>What improvement looks like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411480"/>
            <a:ext cx="15544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 sz="900" b="1">
                <a:solidFill>
                  <a:srgbClr val="3FB950"/>
                </a:solidFill>
                <a:latin typeface="Cascadia Code"/>
              </a:defRPr>
            </a:pPr>
            <a:r>
              <a:t>Technical deep dive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9808" y="1417320"/>
            <a:ext cx="3246120" cy="1078992"/>
          </a:xfrm>
          <a:prstGeom prst="roundRect">
            <a:avLst/>
          </a:prstGeom>
          <a:solidFill>
            <a:srgbClr val="172033"/>
          </a:solidFill>
          <a:ln>
            <a:solidFill>
              <a:srgbClr val="172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50976" y="1572768"/>
            <a:ext cx="2843784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600" b="1">
                <a:solidFill>
                  <a:srgbClr val="E6EDF3"/>
                </a:solidFill>
                <a:latin typeface="Cascadia Code"/>
              </a:defRPr>
            </a:pPr>
            <a:r>
              <a:t>Fewer irrelevant tokens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53128" y="1417320"/>
            <a:ext cx="3246120" cy="1078992"/>
          </a:xfrm>
          <a:prstGeom prst="round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54296" y="1572768"/>
            <a:ext cx="2843784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600" b="1">
                <a:solidFill>
                  <a:srgbClr val="E6EDF3"/>
                </a:solidFill>
                <a:latin typeface="Cascadia Code"/>
              </a:defRPr>
            </a:pPr>
            <a:r>
              <a:t>Faster answers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56448" y="1417320"/>
            <a:ext cx="3246120" cy="1078992"/>
          </a:xfrm>
          <a:prstGeom prst="round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57616" y="1572768"/>
            <a:ext cx="2843784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600" b="1">
                <a:solidFill>
                  <a:srgbClr val="E6EDF3"/>
                </a:solidFill>
                <a:latin typeface="Cascadia Code"/>
              </a:defRPr>
            </a:pPr>
            <a:r>
              <a:t>Fewer retries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8" y="3063240"/>
            <a:ext cx="3246120" cy="1078992"/>
          </a:xfrm>
          <a:prstGeom prst="round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50976" y="3218688"/>
            <a:ext cx="2843784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600" b="1">
                <a:solidFill>
                  <a:srgbClr val="E6EDF3"/>
                </a:solidFill>
                <a:latin typeface="Cascadia Code"/>
              </a:defRPr>
            </a:pPr>
            <a:r>
              <a:t>Higher-signal reviews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53128" y="3063240"/>
            <a:ext cx="3246120" cy="1078992"/>
          </a:xfrm>
          <a:prstGeom prst="round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54296" y="3218688"/>
            <a:ext cx="2843784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600" b="1">
                <a:solidFill>
                  <a:srgbClr val="E6EDF3"/>
                </a:solidFill>
                <a:latin typeface="Cascadia Code"/>
              </a:defRPr>
            </a:pPr>
            <a:r>
              <a:t>Clearer ownership of policy and measurement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194560" y="5029200"/>
            <a:ext cx="7589520" cy="731520"/>
          </a:xfrm>
          <a:prstGeom prst="roundRect">
            <a:avLst/>
          </a:prstGeom>
          <a:solidFill>
            <a:srgbClr val="172033"/>
          </a:solidFill>
          <a:ln>
            <a:solidFill>
              <a:srgbClr val="172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395728" y="5184648"/>
            <a:ext cx="7187184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300" b="1">
                <a:solidFill>
                  <a:srgbClr val="E6EDF3"/>
                </a:solidFill>
                <a:latin typeface="Cascadia Code"/>
              </a:defRPr>
            </a:pPr>
            <a:r>
              <a:t>Promise measurement, not magic savings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59152" y="5596128"/>
            <a:ext cx="7260336" cy="54864"/>
          </a:xfrm>
          <a:prstGeom prst="rect">
            <a:avLst/>
          </a:prstGeom>
          <a:noFill/>
        </p:spPr>
        <p:txBody>
          <a:bodyPr wrap="square" lIns="164592" rIns="146304" tIns="109728" bIns="91440">
            <a:spAutoFit/>
          </a:bodyPr>
          <a:lstStyle/>
          <a:p>
            <a:pPr>
              <a:spcAft>
                <a:spcPts val="700"/>
              </a:spcAft>
              <a:defRPr sz="1200">
                <a:solidFill>
                  <a:srgbClr val="B7C3D0"/>
                </a:solidFill>
                <a:latin typeface="Cascadia Code"/>
              </a:defRPr>
            </a:pPr>
            <a:r>
              <a:t>Use baselines, then compare retries, review quality, rework, and usage.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6364224"/>
            <a:ext cx="658368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900" b="0">
                <a:solidFill>
                  <a:srgbClr val="7D8590"/>
                </a:solidFill>
                <a:latin typeface="Cascadia Code"/>
              </a:defRPr>
            </a:pPr>
            <a:r>
              <a:t>Token Optimization + Context Engineering | 23 / 24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635240" y="6473952"/>
            <a:ext cx="3931920" cy="45720"/>
          </a:xfrm>
          <a:prstGeom prst="rect">
            <a:avLst/>
          </a:prstGeom>
          <a:solidFill>
            <a:srgbClr val="172033"/>
          </a:solidFill>
          <a:ln>
            <a:solidFill>
              <a:srgbClr val="172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635240" y="6473952"/>
            <a:ext cx="3768090" cy="45720"/>
          </a:xfrm>
          <a:prstGeom prst="rect">
            <a:avLst/>
          </a:prstGeom>
          <a:solidFill>
            <a:srgbClr val="3FB950"/>
          </a:solidFill>
          <a:ln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FB950"/>
          </a:solidFill>
          <a:ln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978408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2500" b="1">
                <a:solidFill>
                  <a:srgbClr val="E6EDF3"/>
                </a:solidFill>
                <a:latin typeface="Aptos Display"/>
              </a:defRPr>
            </a:pPr>
            <a:r>
              <a:t>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411480"/>
            <a:ext cx="15544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 sz="900" b="1">
                <a:solidFill>
                  <a:srgbClr val="3FB950"/>
                </a:solidFill>
                <a:latin typeface="Cascadia Code"/>
              </a:defRPr>
            </a:pPr>
            <a:r>
              <a:t>Technical deep dive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91695" cy="146304"/>
          </a:xfrm>
          <a:prstGeom prst="rect">
            <a:avLst/>
          </a:prstGeom>
          <a:solidFill>
            <a:srgbClr val="FFAB70"/>
          </a:solidFill>
          <a:ln>
            <a:solidFill>
              <a:srgbClr val="FFAB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60120" y="1554480"/>
            <a:ext cx="10058400" cy="676656"/>
          </a:xfrm>
          <a:prstGeom prst="roundRect">
            <a:avLst/>
          </a:prstGeom>
          <a:solidFill>
            <a:srgbClr val="172033"/>
          </a:solidFill>
          <a:ln>
            <a:solidFill>
              <a:srgbClr val="172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61288" y="1709928"/>
            <a:ext cx="9656064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700" b="1">
                <a:solidFill>
                  <a:srgbClr val="E6EDF3"/>
                </a:solidFill>
                <a:latin typeface="Cascadia Code"/>
              </a:defRPr>
            </a:pPr>
            <a:r>
              <a:t>Context is a design input, not a dumping ground.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0120" y="2514600"/>
            <a:ext cx="10058400" cy="676656"/>
          </a:xfrm>
          <a:prstGeom prst="round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61288" y="2670048"/>
            <a:ext cx="9656064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700" b="1">
                <a:solidFill>
                  <a:srgbClr val="E6EDF3"/>
                </a:solidFill>
                <a:latin typeface="Cascadia Code"/>
              </a:defRPr>
            </a:pPr>
            <a:r>
              <a:t>Token optimization and context engineering improve both cost and quality.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60120" y="3474720"/>
            <a:ext cx="10058400" cy="676656"/>
          </a:xfrm>
          <a:prstGeom prst="roundRect">
            <a:avLst/>
          </a:prstGeom>
          <a:solidFill>
            <a:srgbClr val="172033"/>
          </a:solidFill>
          <a:ln>
            <a:solidFill>
              <a:srgbClr val="172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61288" y="3630168"/>
            <a:ext cx="9656064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700" b="1">
                <a:solidFill>
                  <a:srgbClr val="E6EDF3"/>
                </a:solidFill>
                <a:latin typeface="Cascadia Code"/>
              </a:defRPr>
            </a:pPr>
            <a:r>
              <a:t>Surface controls differ; the habits transfer.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60120" y="4434840"/>
            <a:ext cx="10058400" cy="676656"/>
          </a:xfrm>
          <a:prstGeom prst="round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61288" y="4590288"/>
            <a:ext cx="9656064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700" b="1">
                <a:solidFill>
                  <a:srgbClr val="E6EDF3"/>
                </a:solidFill>
                <a:latin typeface="Cascadia Code"/>
              </a:defRPr>
            </a:pPr>
            <a:r>
              <a:t>Start with three changes this week and measure.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6364224"/>
            <a:ext cx="658368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900" b="0">
                <a:solidFill>
                  <a:srgbClr val="7D8590"/>
                </a:solidFill>
                <a:latin typeface="Cascadia Code"/>
              </a:defRPr>
            </a:pPr>
            <a:r>
              <a:t>Token Optimization + Context Engineering | 24 / 24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35240" y="6473952"/>
            <a:ext cx="3931920" cy="45720"/>
          </a:xfrm>
          <a:prstGeom prst="rect">
            <a:avLst/>
          </a:prstGeom>
          <a:solidFill>
            <a:srgbClr val="172033"/>
          </a:solidFill>
          <a:ln>
            <a:solidFill>
              <a:srgbClr val="172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35240" y="6473952"/>
            <a:ext cx="3931920" cy="45720"/>
          </a:xfrm>
          <a:prstGeom prst="rect">
            <a:avLst/>
          </a:prstGeom>
          <a:solidFill>
            <a:srgbClr val="3FB950"/>
          </a:solidFill>
          <a:ln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Token Optimization and Context Engineering</dc:title>
  <dc:subject>Technical deep dive</dc:subject>
  <dc:creator>GitHub Copilot</dc:creator>
  <cp:keywords/>
  <dc:description>generated using python-pptx</dc:description>
  <cp:lastModifiedBy>Steve Canny</cp:lastModifiedBy>
  <cp:revision>1</cp:revision>
  <dcterms:created xsi:type="dcterms:W3CDTF">2026-01-01T00:00:00Z</dcterms:created>
  <dcterms:modified xsi:type="dcterms:W3CDTF">2026-01-01T00:00:00Z</dcterms:modified>
  <cp:category/>
</cp:coreProperties>
</file>