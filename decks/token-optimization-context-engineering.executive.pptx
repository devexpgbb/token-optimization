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1: Token Optimization and Context Engineering</a:t>
            </a:r>
          </a:p>
          <a:p>
            <a:pPr>
              <a:defRPr sz="1200">
                <a:latin typeface="Aptos"/>
              </a:defRPr>
            </a:pPr>
            <a:r>
              <a:t>Open by saying this is not a "use less Copilot" session. It is a "get better answers with less waste"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2: Why this matters now</a:t>
            </a:r>
          </a:p>
          <a:p>
            <a:pPr>
              <a:defRPr sz="1200">
                <a:latin typeface="Aptos"/>
              </a:defRPr>
            </a:pPr>
            <a:r>
              <a:t>Anchor on the current shift: customers need practical habits before usage surprises become trust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3: Context engineering</a:t>
            </a:r>
          </a:p>
          <a:p>
            <a:pPr>
              <a:defRPr sz="1200">
                <a:latin typeface="Aptos"/>
              </a:defRPr>
            </a:pPr>
            <a:r>
              <a:t>Define context engineering as an evolution of prompt engineering. The goal is not clever phrasing; the goal is the right information in the right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4: What counts as context</a:t>
            </a:r>
          </a:p>
          <a:p>
            <a:pPr>
              <a:defRPr sz="1200">
                <a:latin typeface="Aptos"/>
              </a:defRPr>
            </a:pPr>
            <a:r>
              <a:t>Walk left to right through the context inputs. Point out that the user prompt is often the smallest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5: Important billing nuance</a:t>
            </a:r>
          </a:p>
          <a:p>
            <a:pPr>
              <a:defRPr sz="1200">
                <a:latin typeface="Aptos"/>
              </a:defRPr>
            </a:pPr>
            <a:r>
              <a:t>Use careful language. Product accounting can vary and caching may apply. The workshop teaches habits that remain useful even as billing details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6: Where context gets wasted</a:t>
            </a:r>
          </a:p>
          <a:p>
            <a:pPr>
              <a:defRPr sz="1200">
                <a:latin typeface="Aptos"/>
              </a:defRPr>
            </a:pPr>
            <a:r>
              <a:t>Emphasize that context waste hurts quality before it hurts the bill. Too much irrelevant context makes the model less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7: The five levers</a:t>
            </a:r>
          </a:p>
          <a:p>
            <a:pPr>
              <a:defRPr sz="1200">
                <a:latin typeface="Aptos"/>
              </a:defRPr>
            </a:pPr>
            <a:r>
              <a:t>This is the map for the workshop. Do not create a second framework; map context engineering into these five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8: Lever 1 - Context hygiene</a:t>
            </a:r>
          </a:p>
          <a:p>
            <a:pPr>
              <a:defRPr sz="1200">
                <a:latin typeface="Aptos"/>
              </a:defRPr>
            </a:pPr>
            <a:r>
              <a:t>Use the branch analogy: one focused session per task. Clearing context is good between tasks, but clearing and re-reading the same files can be wasteful.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9: Lever 2 - Prompt discipline</a:t>
            </a:r>
          </a:p>
          <a:p>
            <a:pPr>
              <a:defRPr sz="1200">
                <a:latin typeface="Aptos"/>
              </a:defRPr>
            </a:pPr>
            <a:r>
              <a:t>Show one overloaded request and one structured request. Keep the demo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10: Lever 3 - Model and surface selection</a:t>
            </a:r>
          </a:p>
          <a:p>
            <a:pPr>
              <a:defRPr sz="1200">
                <a:latin typeface="Aptos"/>
              </a:defRPr>
            </a:pPr>
            <a:r>
              <a:t>Make model and surface selection practical. The right answer may be a different surface, not just a different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11: Lever 4 - Scope and tool control</a:t>
            </a:r>
          </a:p>
          <a:p>
            <a:pPr>
              <a:defRPr sz="1200">
                <a:latin typeface="Aptos"/>
              </a:defRPr>
            </a:pPr>
            <a:r>
              <a:t>Explain that every enabled tool is a capability and a possible source of noise. Tool descriptions and access boundaries are product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12: Lever 5 - Measurement</a:t>
            </a:r>
          </a:p>
          <a:p>
            <a:pPr>
              <a:defRPr sz="1200">
                <a:latin typeface="Aptos"/>
              </a:defRPr>
            </a:pPr>
            <a:r>
              <a:t>For surfaces without token visibility, measure proxies: retries, PR churn, review false positives, usage dashboards, and time-to-merge.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13: Surface matrix</a:t>
            </a:r>
          </a:p>
          <a:p>
            <a:pPr>
              <a:defRPr sz="1200">
                <a:latin typeface="Aptos"/>
              </a:defRPr>
            </a:pPr>
            <a:r>
              <a:t>Warn that the matrix is not parity. Some cells are intentionally "not available."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14: VS Code pattern</a:t>
            </a:r>
          </a:p>
          <a:p>
            <a:pPr>
              <a:defRPr sz="1200">
                <a:latin typeface="Aptos"/>
              </a:defRPr>
            </a:pPr>
            <a:r>
              <a:t>VS Code is the daily practitioner path: Ask to understand, Plan to structure, Agent to implement, Review to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15: GitHub.com web pattern</a:t>
            </a:r>
          </a:p>
          <a:p>
            <a:pPr>
              <a:defRPr sz="1200">
                <a:latin typeface="Aptos"/>
              </a:defRPr>
            </a:pPr>
            <a:r>
              <a:t>GitHub.com is strongest when the page context matters: repository, issue, pull request, 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16: Copilot CLI pattern</a:t>
            </a:r>
          </a:p>
          <a:p>
            <a:pPr>
              <a:defRPr sz="1200">
                <a:latin typeface="Aptos"/>
              </a:defRPr>
            </a:pPr>
            <a:r>
              <a:t>CLI remains the best live demo for token concepts because context and usage are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17: Coding agent pattern</a:t>
            </a:r>
          </a:p>
          <a:p>
            <a:pPr>
              <a:defRPr sz="1200">
                <a:latin typeface="Aptos"/>
              </a:defRPr>
            </a:pPr>
            <a:r>
              <a:t>Coding agent tasks should look like good implementation tickets. Vague tasks create broad exploration and broad diffs.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18: Code review pattern</a:t>
            </a:r>
          </a:p>
          <a:p>
            <a:pPr>
              <a:defRPr sz="1200">
                <a:latin typeface="Aptos"/>
              </a:defRPr>
            </a:pPr>
            <a:r>
              <a:t>Code review is purpose-built. Do not promise model switching. Teach PR hygiene and instruction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19: Context inventory exercise</a:t>
            </a:r>
          </a:p>
          <a:p>
            <a:pPr>
              <a:defRPr sz="1200">
                <a:latin typeface="Aptos"/>
              </a:defRPr>
            </a:pPr>
            <a:r>
              <a:t>Students should discover that some of their "helpful" context is stale, sensitive, or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20: Instruction diet exercise</a:t>
            </a:r>
          </a:p>
          <a:p>
            <a:pPr>
              <a:defRPr sz="1200">
                <a:latin typeface="Aptos"/>
              </a:defRPr>
            </a:pPr>
            <a:r>
              <a:t>This is the most actionable demo. Trim one bloated instruction file and show where the pieces should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21: Governance</a:t>
            </a:r>
          </a:p>
          <a:p>
            <a:pPr>
              <a:defRPr sz="1200">
                <a:latin typeface="Aptos"/>
              </a:defRPr>
            </a:pPr>
            <a:r>
              <a:t>Separate developer habits from admin controls. Admin controls compound because they apply every turn for every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22: Delivery tracks</a:t>
            </a:r>
          </a:p>
          <a:p>
            <a:pPr>
              <a:defRPr sz="1200">
                <a:latin typeface="Aptos"/>
              </a:defRPr>
            </a:pPr>
            <a:r>
              <a:t>Match the track to the audience. Do not run the 4-hour customer review without preflight.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23: What improvement looks like</a:t>
            </a:r>
          </a:p>
          <a:p>
            <a:pPr>
              <a:defRPr sz="1200">
                <a:latin typeface="Aptos"/>
              </a:defRPr>
            </a:pPr>
            <a:r>
              <a:t>Avoid unsupported savings promises. Talk about directional improvements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Aptos"/>
              </a:defRPr>
            </a:pPr>
            <a:r>
              <a:t>Slide 24: Takeaways</a:t>
            </a:r>
          </a:p>
          <a:p>
            <a:pPr>
              <a:defRPr sz="1200">
                <a:latin typeface="Aptos"/>
              </a:defRPr>
            </a:pPr>
            <a:r>
              <a:t>Close with a small commitment: pick three habits, measure for a week,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109728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20116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A371F7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640080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800" b="1">
                <a:solidFill>
                  <a:srgbClr val="F0F6FC"/>
                </a:solidFill>
                <a:latin typeface="Aptos Display"/>
              </a:defRPr>
            </a:pPr>
            <a:r>
              <a:t>Token Optimization and 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27248"/>
            <a:ext cx="4526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Aptos"/>
              </a:defRPr>
            </a:pPr>
            <a:r>
              <a:t>Getting more value from every Copilot interaction</a:t>
            </a:r>
            <a:br/>
            <a:r>
              <a:t>Across Copilot CLI, VS Code, GitHub.com, coding agent, and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170432"/>
            <a:ext cx="4023360" cy="53035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32588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1. Context hygiene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93392"/>
            <a:ext cx="4023360" cy="53035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214884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2. Prompt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816352"/>
            <a:ext cx="4023360" cy="53035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97180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3. Model/surface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639312"/>
            <a:ext cx="4023360" cy="53035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379476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4. Tool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462272"/>
            <a:ext cx="4023360" cy="53035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4617720"/>
            <a:ext cx="36210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5.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016752"/>
            <a:ext cx="44805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Aptos"/>
              </a:defRPr>
            </a:pPr>
            <a:r>
              <a:t>Generated from Markdown source with embedded speaker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 / 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6473952"/>
            <a:ext cx="16382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Why this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Usage models are shifting from simple request counting toward more granular accounting.</a:t>
            </a:r>
          </a:p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Long conversations, broad tool output, and unnecessary context can affect cost, latency, and quality.</a:t>
            </a:r>
          </a:p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The durable habit is not "use less Copilot"; it is "send better context."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2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32765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Context engineering means bringing the right information, in the right format, to the model.</a:t>
            </a:r>
          </a:p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It turns ad hoc prompting into repeatable workflows.</a:t>
            </a:r>
          </a:p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Core primitives: custom instructions, prompt files, skills, agents, retrieval, and human review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3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49149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What counts as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Product and system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Repository, organization, path-specific, personal, and agent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Conversation history and summaries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Files, selections, issues, pull requests, and tool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Retrieved docs, web pages, MCP output, and generated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4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65531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Important billing nuance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766560" cy="388620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6364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6437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"Context is resent" is a useful mental model, not a universal invoice formula.</a:t>
            </a:r>
          </a:p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Some products and models use caching or product-specific accounting.</a:t>
            </a:r>
          </a:p>
          <a:p>
            <a:pPr>
              <a:spcAft>
                <a:spcPts val="700"/>
              </a:spcAft>
              <a:defRPr sz="1900">
                <a:solidFill>
                  <a:srgbClr val="C9D1D9"/>
                </a:solidFill>
                <a:latin typeface="Aptos"/>
              </a:defRPr>
            </a:pPr>
            <a:r>
              <a:t>The practical takeaway remains: stale or irrelevant context increases cost, latency, and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37560" cy="388620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572768"/>
            <a:ext cx="2935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1984248"/>
            <a:ext cx="3008376" cy="32095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Better context improves quality, speed, and cost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5 /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6473952"/>
            <a:ext cx="81915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Where context gets wasted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Whole directories or large files when one function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Long-running mixed-topic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Overgrown custom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Raw logs, build output, generated files, and tool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High-cost models used for routine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3520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Auto-review or agent tasks with vague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6 / 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98298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The five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Aptos"/>
              </a:defRPr>
            </a:pPr>
            <a:r>
              <a:t>Five transferable levers</a:t>
            </a:r>
          </a:p>
        </p:txBody>
      </p:sp>
      <p:sp>
        <p:nvSpPr>
          <p:cNvPr id="6" name="Oval 5"/>
          <p:cNvSpPr/>
          <p:nvPr/>
        </p:nvSpPr>
        <p:spPr>
          <a:xfrm>
            <a:off x="1298448" y="1847088"/>
            <a:ext cx="713232" cy="713232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1488"/>
            <a:ext cx="2057400" cy="14173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Context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11" name="Oval 10"/>
          <p:cNvSpPr/>
          <p:nvPr/>
        </p:nvSpPr>
        <p:spPr>
          <a:xfrm>
            <a:off x="3566159" y="1847088"/>
            <a:ext cx="713232" cy="713232"/>
          </a:xfrm>
          <a:prstGeom prst="ellipse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2761488"/>
            <a:ext cx="2057400" cy="14173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Prompt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1847088"/>
            <a:ext cx="713232" cy="713232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761488"/>
            <a:ext cx="2057400" cy="14173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Model and surface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21" name="Oval 20"/>
          <p:cNvSpPr/>
          <p:nvPr/>
        </p:nvSpPr>
        <p:spPr>
          <a:xfrm>
            <a:off x="8101583" y="1847088"/>
            <a:ext cx="713232" cy="713232"/>
          </a:xfrm>
          <a:prstGeom prst="ellipse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5" y="2761488"/>
            <a:ext cx="2057400" cy="14173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Scope and tool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26" name="Oval 25"/>
          <p:cNvSpPr/>
          <p:nvPr/>
        </p:nvSpPr>
        <p:spPr>
          <a:xfrm>
            <a:off x="10369296" y="1847088"/>
            <a:ext cx="713232" cy="713232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975104"/>
            <a:ext cx="7132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2761488"/>
            <a:ext cx="2057400" cy="14173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2916936"/>
            <a:ext cx="1655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0F6FC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328416"/>
            <a:ext cx="1728216" cy="7406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Works across surfaces</a:t>
            </a:r>
          </a:p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Tune for the 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Aptos"/>
              </a:defRPr>
            </a:pPr>
            <a:r>
              <a:t>Use this map instead of teaching a separate framework for every Copilot surface.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7 / 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6473952"/>
            <a:ext cx="114681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Lever 1 - Context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Aptos Display"/>
              </a:defRPr>
            </a:pPr>
            <a:r>
              <a:t>Context hygiene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Start fresh when the task changes.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Summarize before switching focus.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Keep stable source-of-truth docs short and current.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Avoid re-discovery loops by preserving useful handoffs.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8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31063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Lever 2 - Prompt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Aptos Display"/>
              </a:defRPr>
            </a:pPr>
            <a:r>
              <a:t>Prompt discipline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Use Markdown structure.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State outcome, scope, constraints, and success criteria.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Reference specific files, issues, PRs, or selections.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Add validation gates before risky edits.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9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47446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Lever 3 - Model and surface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Aptos Display"/>
              </a:defRPr>
            </a:pPr>
            <a:r>
              <a:t>Model and surface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Choose the cheapest model or surface that can reliably finish the job.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Use VS Code Plan for design, Agent for implementation, Ask for exploration.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Use CLI when you need visible context/tool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Use code review when the unit of work is a pull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10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63830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Lever 4 - Scope and tool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Aptos Display"/>
              </a:defRPr>
            </a:pPr>
            <a:r>
              <a:t>Scope and tool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Keep workspace, repository, and tool scope tight.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Use targeted instructions instead of one giant instruction file.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Enable MCP tools only when the task needs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Use human-in-the-loop approval for high-risk tool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11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80213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Lever 5 -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08176"/>
            <a:ext cx="1298448" cy="1298448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29844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Token optimization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47088"/>
            <a:ext cx="46634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Aptos Display"/>
              </a:defRPr>
            </a:pPr>
            <a:r>
              <a:t>Measurement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71800"/>
            <a:ext cx="5349240" cy="233172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469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What students should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38728"/>
            <a:ext cx="5020055" cy="16550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Measure tokens where exposed.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Measure premium requests, review counts, and billing views where tokens are hidden.</a:t>
            </a:r>
          </a:p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Measure quality with retries, false positives, PR churn, and human rework.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4892040" cy="3749039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Classroom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21408"/>
            <a:ext cx="4562855" cy="307238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9D1D9"/>
                </a:solidFill>
                <a:latin typeface="Aptos"/>
              </a:defRPr>
            </a:pPr>
            <a:r>
              <a:t>Optimize after you have a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12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196596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Surface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98755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Aptos"/>
              </a:defRPr>
            </a:pPr>
            <a:r>
              <a:t>Not all controls exist everywhere. Teach the habit, then pick the right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3383280" cy="135331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C9D1D9"/>
                </a:solidFill>
                <a:latin typeface="Aptos"/>
              </a:defRPr>
            </a:pPr>
            <a:r>
              <a:t>most visible token/context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00784"/>
            <a:ext cx="3383280" cy="135331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C9D1D9"/>
                </a:solidFill>
                <a:latin typeface="Aptos"/>
              </a:defRPr>
            </a:pPr>
            <a:r>
              <a:t>daily coding workflow with Ask, Plan, Agent, custom instructions, prompt files,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700784"/>
            <a:ext cx="3383280" cy="135331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8562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2677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C9D1D9"/>
                </a:solidFill>
                <a:latin typeface="Aptos"/>
              </a:defRPr>
            </a:pPr>
            <a:r>
              <a:t>repo, issue, PR, and discussion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9584"/>
            <a:ext cx="3383280" cy="135331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850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Coding/cloud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C9D1D9"/>
                </a:solidFill>
                <a:latin typeface="Aptos"/>
              </a:defRPr>
            </a:pPr>
            <a:r>
              <a:t>asynchronous implementation from scoped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529584"/>
            <a:ext cx="3383280" cy="135331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685032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096512"/>
            <a:ext cx="3054096" cy="676656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C9D1D9"/>
                </a:solidFill>
                <a:latin typeface="Aptos"/>
              </a:defRPr>
            </a:pPr>
            <a:r>
              <a:t>PR-focused feedback with product-specific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303520"/>
            <a:ext cx="3383280" cy="658368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5458968"/>
            <a:ext cx="298094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0F6FC"/>
                </a:solidFill>
                <a:latin typeface="Aptos"/>
              </a:defRPr>
            </a:pPr>
            <a:r>
              <a:t>Facilitator cue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5870448"/>
            <a:ext cx="3054096" cy="-18288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9D1D9"/>
                </a:solidFill>
                <a:latin typeface="Aptos"/>
              </a:defRPr>
            </a:pPr>
            <a:r>
              <a:t>Use CLI as the visible reference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13 / 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6473952"/>
            <a:ext cx="212979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VS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Curate project context with concise instructions and docs.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Plan first for complex work.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Implement from the plan in a fresh or focused session.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Review changes against the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Best for daily coding flow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Use Ask, Plan, Agent, then Review deliberately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14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29362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GitHub.com web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Ask from the page that already has the relevant context.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Keep threads focused.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Use repository, issue, and PR context deliberately.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Treat generated files as drafts.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Best when page context matters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Start from the issue, PR, discussion, or repo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15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45745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Copilot CLI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Use sessions like branches: one task, one focused context.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Filter tool output before it enters the conversation.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Delegate noisy discovery when available.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Use usage/context visibility to teach the token mental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Best for transparent tool control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Filter noisy command output before it enters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16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62127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Coding agent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Write issues like implementation briefs.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Include acceptance criteria, validation commands, and files to avoid.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Keep tasks small enough to review.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Review the generated PR like any other teammate's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Best for scoped async implementation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Write the task like a small implementation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17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78511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Code review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6400800" cy="452628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59984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01368"/>
            <a:ext cx="6071616" cy="384962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Keep PRs small.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Tune repo and path-specific review instructions.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Watch automatic review policy and quota implications.</a:t>
            </a:r>
          </a:p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Validate Copilot findings; review comments are not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3886200" cy="1920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8988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Surface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57016" cy="1243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Best for PR-shaped feedback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Tune PR size and review instructions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29000"/>
            <a:ext cx="3886200" cy="1874519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3584448"/>
            <a:ext cx="34838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Risk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995928"/>
            <a:ext cx="3557016" cy="1197863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Vague scope expands context</a:t>
            </a:r>
          </a:p>
          <a:p>
            <a:pPr>
              <a:spcAft>
                <a:spcPts val="700"/>
              </a:spcAft>
              <a:defRPr sz="1500">
                <a:solidFill>
                  <a:srgbClr val="C9D1D9"/>
                </a:solidFill>
                <a:latin typeface="Aptos"/>
              </a:defRPr>
            </a:pPr>
            <a:r>
              <a:t>Broad context creates broad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18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294893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Context inventory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27432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7335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List every context 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6153912" y="1691640"/>
            <a:ext cx="502920" cy="502920"/>
          </a:xfrm>
          <a:prstGeom prst="ellipse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7335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Mark required, useful, stale, redundant, sensitive, or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566160"/>
            <a:ext cx="502920" cy="502920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4787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Decide what stays, what moves, what gets summarized, and what gets removed.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86400"/>
            <a:ext cx="10652760" cy="438912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41848"/>
            <a:ext cx="102504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0F6F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6053328"/>
            <a:ext cx="10323576" cy="-2377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9D1D9"/>
                </a:solidFill>
                <a:latin typeface="Aptos"/>
              </a:defRPr>
            </a:pPr>
            <a:r>
              <a:t>A smaller, safer context plan students can reuse after the workshop.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19 / 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6473952"/>
            <a:ext cx="311276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Instruction diet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2743200" cy="3017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91640"/>
            <a:ext cx="502920" cy="502920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7335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Keep stable rules always-on.</a:t>
            </a:r>
          </a:p>
        </p:txBody>
      </p:sp>
      <p:sp>
        <p:nvSpPr>
          <p:cNvPr id="10" name="Oval 9"/>
          <p:cNvSpPr/>
          <p:nvPr/>
        </p:nvSpPr>
        <p:spPr>
          <a:xfrm>
            <a:off x="6153912" y="1691640"/>
            <a:ext cx="502920" cy="502920"/>
          </a:xfrm>
          <a:prstGeom prst="ellipse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79222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7335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82880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Move targeted rules to path-specific instructions.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566160"/>
            <a:ext cx="502920" cy="502920"/>
          </a:xfrm>
          <a:prstGeom prst="ellipse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4787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Move repeated workflows to prompts, skills, or agents.</a:t>
            </a:r>
          </a:p>
        </p:txBody>
      </p:sp>
      <p:sp>
        <p:nvSpPr>
          <p:cNvPr id="18" name="Oval 17"/>
          <p:cNvSpPr/>
          <p:nvPr/>
        </p:nvSpPr>
        <p:spPr>
          <a:xfrm>
            <a:off x="6153912" y="3566160"/>
            <a:ext cx="502920" cy="502920"/>
          </a:xfrm>
          <a:prstGeom prst="ellipse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3666744"/>
            <a:ext cx="5029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547872"/>
            <a:ext cx="448056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3703320"/>
            <a:ext cx="40782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Link long docs instead of copying them into instructions.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486400"/>
            <a:ext cx="10652760" cy="438912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41848"/>
            <a:ext cx="1025042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0F6F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053328"/>
            <a:ext cx="10323576" cy="-23774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9D1D9"/>
                </a:solidFill>
                <a:latin typeface="Aptos"/>
              </a:defRPr>
            </a:pPr>
            <a:r>
              <a:t>A smaller, safer context plan students can reuse after the workshop.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20 / 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6473952"/>
            <a:ext cx="327660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Content exclusion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8" y="1234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389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Model access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Code review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2377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532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Budgets and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20440"/>
            <a:ext cx="4892040" cy="80467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75888"/>
            <a:ext cx="448970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0F6FC"/>
                </a:solidFill>
                <a:latin typeface="Aptos"/>
              </a:defRPr>
            </a:pPr>
            <a:r>
              <a:t>Telemetry and dashboard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21 /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473952"/>
            <a:ext cx="3440429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Delivery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3246120" cy="306324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1 hour: mental model, surface view, demo,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828032"/>
            <a:ext cx="3246120" cy="12801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1600200"/>
            <a:ext cx="3246120" cy="306324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Practitioner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2 hours: practitioner lab and prompt/context refactor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4828032"/>
            <a:ext cx="3246120" cy="128016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1311" y="1600200"/>
            <a:ext cx="3246120" cy="306324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Applied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3" y="2167128"/>
            <a:ext cx="2916936" cy="238658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C9D1D9"/>
                </a:solidFill>
                <a:latin typeface="Aptos"/>
              </a:defRPr>
            </a:pPr>
            <a:r>
              <a:t>4 hours: customer environment review and team operating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1" y="4828032"/>
            <a:ext cx="3246120" cy="128016"/>
          </a:xfrm>
          <a:prstGeom prst="rect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9875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Aptos"/>
              </a:defRPr>
            </a:pPr>
            <a:r>
              <a:t>Use preflight before the 4-hour version, especially when students review their own repositories.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22 / 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60426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What improvement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3246120" cy="1078992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Fewer irrelevant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417320"/>
            <a:ext cx="324612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Faster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1417320"/>
            <a:ext cx="324612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57276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Fewer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63240"/>
            <a:ext cx="324612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21868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Higher-signal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3063240"/>
            <a:ext cx="3246120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3218688"/>
            <a:ext cx="28437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Aptos"/>
              </a:defRPr>
            </a:pPr>
            <a:r>
              <a:t>Clearer ownership of policy and measurement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5029200"/>
            <a:ext cx="7589520" cy="7315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5184648"/>
            <a:ext cx="718718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0F6FC"/>
                </a:solidFill>
                <a:latin typeface="Aptos"/>
              </a:defRPr>
            </a:pPr>
            <a:r>
              <a:t>Promise measurement, not magic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5596128"/>
            <a:ext cx="7260336" cy="54864"/>
          </a:xfrm>
          <a:prstGeom prst="rect">
            <a:avLst/>
          </a:prstGeom>
          <a:noFill/>
        </p:spPr>
        <p:txBody>
          <a:bodyPr wrap="square" lIns="164592" rIns="146304" tIns="109728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C9D1D9"/>
                </a:solidFill>
                <a:latin typeface="Aptos"/>
              </a:defRPr>
            </a:pPr>
            <a:r>
              <a:t>Use baselines, then compare retries, review quality, rework, and usage.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23 / 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6473952"/>
            <a:ext cx="376809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784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F0F6FC"/>
                </a:solidFill>
                <a:latin typeface="Aptos Display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8A6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146304"/>
          </a:xfrm>
          <a:prstGeom prst="rect">
            <a:avLst/>
          </a:prstGeom>
          <a:solidFill>
            <a:srgbClr val="A371F7"/>
          </a:solidFill>
          <a:ln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554480"/>
            <a:ext cx="10058400" cy="676656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70992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Context is a design input, not a dumping 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14600"/>
            <a:ext cx="10058400" cy="676656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7004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Token optimization and context engineering improve both cost and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474720"/>
            <a:ext cx="10058400" cy="676656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63016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Surface controls differ; the habits transfer.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434840"/>
            <a:ext cx="10058400" cy="676656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590288"/>
            <a:ext cx="9656064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Aptos"/>
              </a:defRPr>
            </a:pPr>
            <a:r>
              <a:t>Start with three changes this week and measure.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364224"/>
            <a:ext cx="6583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ptos"/>
              </a:defRPr>
            </a:pPr>
            <a:r>
              <a:t>Token Optimization + Context Engineering | 24 /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6473952"/>
            <a:ext cx="3931920" cy="45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Optimization and Context Engineering</dc:title>
  <dc:subject>Executive briefing</dc:subject>
  <dc:creator>GitHub Copilot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